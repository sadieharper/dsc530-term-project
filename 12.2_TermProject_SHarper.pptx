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57" r:id="rId4"/>
    <p:sldId id="270" r:id="rId5"/>
    <p:sldId id="271" r:id="rId6"/>
    <p:sldId id="272" r:id="rId7"/>
    <p:sldId id="273" r:id="rId8"/>
    <p:sldId id="274" r:id="rId9"/>
    <p:sldId id="281" r:id="rId10"/>
    <p:sldId id="275" r:id="rId11"/>
    <p:sldId id="276" r:id="rId12"/>
    <p:sldId id="277" r:id="rId13"/>
    <p:sldId id="278" r:id="rId14"/>
    <p:sldId id="266" r:id="rId15"/>
    <p:sldId id="267" r:id="rId16"/>
    <p:sldId id="268" r:id="rId17"/>
    <p:sldId id="280"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129-A8C2-419E-B641-6CC90F50732D}"/>
              </a:ext>
            </a:extLst>
          </p:cNvPr>
          <p:cNvSpPr>
            <a:spLocks noGrp="1"/>
          </p:cNvSpPr>
          <p:nvPr>
            <p:ph type="ctrTitle"/>
          </p:nvPr>
        </p:nvSpPr>
        <p:spPr>
          <a:xfrm>
            <a:off x="762000" y="1524000"/>
            <a:ext cx="10668000" cy="22860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33C04-8A23-4499-A6EF-1D190F0FB38E}"/>
              </a:ext>
            </a:extLst>
          </p:cNvPr>
          <p:cNvSpPr>
            <a:spLocks noGrp="1"/>
          </p:cNvSpPr>
          <p:nvPr>
            <p:ph type="subTitle" idx="1"/>
          </p:nvPr>
        </p:nvSpPr>
        <p:spPr>
          <a:xfrm>
            <a:off x="762000" y="4571999"/>
            <a:ext cx="10668000" cy="1524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FA99FB-5674-4BC5-949F-8D45EC167511}"/>
              </a:ext>
            </a:extLst>
          </p:cNvPr>
          <p:cNvSpPr>
            <a:spLocks noGrp="1"/>
          </p:cNvSpPr>
          <p:nvPr>
            <p:ph type="dt" sz="half" idx="10"/>
          </p:nvPr>
        </p:nvSpPr>
        <p:spPr/>
        <p:txBody>
          <a:bodyPr/>
          <a:lstStyle/>
          <a:p>
            <a:fld id="{76969C88-B244-455D-A017-012B25B1ACDD}" type="datetimeFigureOut">
              <a:rPr lang="en-US" smtClean="0"/>
              <a:t>6/5/2021</a:t>
            </a:fld>
            <a:endParaRPr lang="en-US"/>
          </a:p>
        </p:txBody>
      </p:sp>
      <p:sp>
        <p:nvSpPr>
          <p:cNvPr id="5" name="Footer Placeholder 4">
            <a:extLst>
              <a:ext uri="{FF2B5EF4-FFF2-40B4-BE49-F238E27FC236}">
                <a16:creationId xmlns:a16="http://schemas.microsoft.com/office/drawing/2014/main" id="{0763CF93-DD67-4FE2-8083-864693FE8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5E934-32B6-44B1-9622-67F30BDA3F3A}"/>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226638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F011-A499-4054-89BF-A4800A68F60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66FB6E8-D956-45B5-9B4A-9D31DF466B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DB9DB-9E62-4292-915C-1DD4134740DB}"/>
              </a:ext>
            </a:extLst>
          </p:cNvPr>
          <p:cNvSpPr>
            <a:spLocks noGrp="1"/>
          </p:cNvSpPr>
          <p:nvPr>
            <p:ph type="dt" sz="half" idx="10"/>
          </p:nvPr>
        </p:nvSpPr>
        <p:spPr/>
        <p:txBody>
          <a:bodyPr/>
          <a:lstStyle/>
          <a:p>
            <a:fld id="{76969C88-B244-455D-A017-012B25B1ACDD}" type="datetimeFigureOut">
              <a:rPr lang="en-US" smtClean="0"/>
              <a:t>6/5/2021</a:t>
            </a:fld>
            <a:endParaRPr lang="en-US"/>
          </a:p>
        </p:txBody>
      </p:sp>
      <p:sp>
        <p:nvSpPr>
          <p:cNvPr id="5" name="Footer Placeholder 4">
            <a:extLst>
              <a:ext uri="{FF2B5EF4-FFF2-40B4-BE49-F238E27FC236}">
                <a16:creationId xmlns:a16="http://schemas.microsoft.com/office/drawing/2014/main" id="{2BD462F1-BC30-4172-8353-363123A1D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2EE8A-96DF-4D7D-B434-778324756D04}"/>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84400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453A-F2B4-4EDB-B8FA-150267BC1A9A}"/>
              </a:ext>
            </a:extLst>
          </p:cNvPr>
          <p:cNvSpPr>
            <a:spLocks noGrp="1"/>
          </p:cNvSpPr>
          <p:nvPr>
            <p:ph type="title"/>
          </p:nvPr>
        </p:nvSpPr>
        <p:spPr>
          <a:xfrm>
            <a:off x="762000" y="1524000"/>
            <a:ext cx="10668000" cy="30384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C46C51-ADF1-48FC-A4D9-38C369E78304}"/>
              </a:ext>
            </a:extLst>
          </p:cNvPr>
          <p:cNvSpPr>
            <a:spLocks noGrp="1"/>
          </p:cNvSpPr>
          <p:nvPr>
            <p:ph type="body" idx="1"/>
          </p:nvPr>
        </p:nvSpPr>
        <p:spPr>
          <a:xfrm>
            <a:off x="762000" y="4589463"/>
            <a:ext cx="10668000" cy="1506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43B56-4DC7-490B-AEFD-55ED1ECFF82E}"/>
              </a:ext>
            </a:extLst>
          </p:cNvPr>
          <p:cNvSpPr>
            <a:spLocks noGrp="1"/>
          </p:cNvSpPr>
          <p:nvPr>
            <p:ph type="dt" sz="half" idx="10"/>
          </p:nvPr>
        </p:nvSpPr>
        <p:spPr/>
        <p:txBody>
          <a:bodyPr/>
          <a:lstStyle/>
          <a:p>
            <a:fld id="{76969C88-B244-455D-A017-012B25B1ACDD}" type="datetimeFigureOut">
              <a:rPr lang="en-US" smtClean="0"/>
              <a:t>6/5/2021</a:t>
            </a:fld>
            <a:endParaRPr lang="en-US"/>
          </a:p>
        </p:txBody>
      </p:sp>
      <p:sp>
        <p:nvSpPr>
          <p:cNvPr id="5" name="Footer Placeholder 4">
            <a:extLst>
              <a:ext uri="{FF2B5EF4-FFF2-40B4-BE49-F238E27FC236}">
                <a16:creationId xmlns:a16="http://schemas.microsoft.com/office/drawing/2014/main" id="{454738F8-C4B2-41D8-B627-A6DDB24B2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43D49-23F8-4C4B-9C30-EDC030EE6F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4269522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556D-6916-42E6-8820-8A0D328A5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747A5-C962-477F-89AA-A32385D57996}"/>
              </a:ext>
            </a:extLst>
          </p:cNvPr>
          <p:cNvSpPr>
            <a:spLocks noGrp="1"/>
          </p:cNvSpPr>
          <p:nvPr>
            <p:ph sz="half" idx="1"/>
          </p:nvPr>
        </p:nvSpPr>
        <p:spPr>
          <a:xfrm>
            <a:off x="762000" y="2285999"/>
            <a:ext cx="5151119"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8312-30FC-44D8-B2A9-B5CAAD9F066F}"/>
              </a:ext>
            </a:extLst>
          </p:cNvPr>
          <p:cNvSpPr>
            <a:spLocks noGrp="1"/>
          </p:cNvSpPr>
          <p:nvPr>
            <p:ph sz="half" idx="2"/>
          </p:nvPr>
        </p:nvSpPr>
        <p:spPr>
          <a:xfrm>
            <a:off x="6278879" y="2285999"/>
            <a:ext cx="5151121"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ED84EB-AF90-4F19-A376-0FE5E50F9EA5}"/>
              </a:ext>
            </a:extLst>
          </p:cNvPr>
          <p:cNvSpPr>
            <a:spLocks noGrp="1"/>
          </p:cNvSpPr>
          <p:nvPr>
            <p:ph type="dt" sz="half" idx="10"/>
          </p:nvPr>
        </p:nvSpPr>
        <p:spPr/>
        <p:txBody>
          <a:bodyPr/>
          <a:lstStyle/>
          <a:p>
            <a:fld id="{76969C88-B244-455D-A017-012B25B1ACDD}" type="datetimeFigureOut">
              <a:rPr lang="en-US" smtClean="0"/>
              <a:t>6/5/2021</a:t>
            </a:fld>
            <a:endParaRPr lang="en-US"/>
          </a:p>
        </p:txBody>
      </p:sp>
      <p:sp>
        <p:nvSpPr>
          <p:cNvPr id="6" name="Footer Placeholder 5">
            <a:extLst>
              <a:ext uri="{FF2B5EF4-FFF2-40B4-BE49-F238E27FC236}">
                <a16:creationId xmlns:a16="http://schemas.microsoft.com/office/drawing/2014/main" id="{7B838ED0-2789-41E4-A36E-83F92CA2E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221A83-6D60-45F0-9173-5F6D2438BC3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970162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5151119"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8000"/>
            <a:ext cx="5151119"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6278878" y="2286000"/>
            <a:ext cx="5151122"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6278878" y="3048000"/>
            <a:ext cx="5151122"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fld id="{76969C88-B244-455D-A017-012B25B1ACDD}" type="datetimeFigureOut">
              <a:rPr lang="en-US" smtClean="0"/>
              <a:t>6/5/2021</a:t>
            </a:fld>
            <a:endParaRPr lang="en-US"/>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933876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662-CBD1-4498-9B6E-2961F5EF1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76969C88-B244-455D-A017-012B25B1ACDD}" type="datetimeFigureOut">
              <a:rPr lang="en-US" smtClean="0"/>
              <a:t>6/5/2021</a:t>
            </a:fld>
            <a:endParaRPr lang="en-US"/>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945669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76969C88-B244-455D-A017-012B25B1ACDD}" type="datetimeFigureOut">
              <a:rPr lang="en-US" smtClean="0"/>
              <a:t>6/5/2021</a:t>
            </a:fld>
            <a:endParaRPr lang="en-US"/>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357614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7076-58C8-494C-B6B1-DC86F62DDC24}"/>
              </a:ext>
            </a:extLst>
          </p:cNvPr>
          <p:cNvSpPr>
            <a:spLocks noGrp="1"/>
          </p:cNvSpPr>
          <p:nvPr>
            <p:ph type="title"/>
          </p:nvPr>
        </p:nvSpPr>
        <p:spPr>
          <a:xfrm>
            <a:off x="762000" y="761998"/>
            <a:ext cx="3810000" cy="1524002"/>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F29E36-0340-452F-8D0A-1BC3F3A388CF}"/>
              </a:ext>
            </a:extLst>
          </p:cNvPr>
          <p:cNvSpPr>
            <a:spLocks noGrp="1"/>
          </p:cNvSpPr>
          <p:nvPr>
            <p:ph idx="1"/>
          </p:nvPr>
        </p:nvSpPr>
        <p:spPr>
          <a:xfrm>
            <a:off x="5334000" y="762001"/>
            <a:ext cx="6096000" cy="5334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51C2E-E587-45E8-BDB1-DFF2F2791BF6}"/>
              </a:ext>
            </a:extLst>
          </p:cNvPr>
          <p:cNvSpPr>
            <a:spLocks noGrp="1"/>
          </p:cNvSpPr>
          <p:nvPr>
            <p:ph type="body" sz="half" idx="2"/>
          </p:nvPr>
        </p:nvSpPr>
        <p:spPr>
          <a:xfrm>
            <a:off x="762000" y="2286000"/>
            <a:ext cx="3810000" cy="38100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1D993-DEDD-470E-B48B-CB053A55A119}"/>
              </a:ext>
            </a:extLst>
          </p:cNvPr>
          <p:cNvSpPr>
            <a:spLocks noGrp="1"/>
          </p:cNvSpPr>
          <p:nvPr>
            <p:ph type="dt" sz="half" idx="10"/>
          </p:nvPr>
        </p:nvSpPr>
        <p:spPr/>
        <p:txBody>
          <a:bodyPr/>
          <a:lstStyle/>
          <a:p>
            <a:fld id="{76969C88-B244-455D-A017-012B25B1ACDD}" type="datetimeFigureOut">
              <a:rPr lang="en-US" smtClean="0"/>
              <a:t>6/5/2021</a:t>
            </a:fld>
            <a:endParaRPr lang="en-US"/>
          </a:p>
        </p:txBody>
      </p:sp>
      <p:sp>
        <p:nvSpPr>
          <p:cNvPr id="6" name="Footer Placeholder 5">
            <a:extLst>
              <a:ext uri="{FF2B5EF4-FFF2-40B4-BE49-F238E27FC236}">
                <a16:creationId xmlns:a16="http://schemas.microsoft.com/office/drawing/2014/main" id="{67926C64-7401-4CA4-859F-74472AF86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08F41-F1F6-431C-9B45-8A447F188CB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70364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04FB-422C-4023-9381-EB12F1582D44}"/>
              </a:ext>
            </a:extLst>
          </p:cNvPr>
          <p:cNvSpPr>
            <a:spLocks noGrp="1"/>
          </p:cNvSpPr>
          <p:nvPr>
            <p:ph type="title"/>
          </p:nvPr>
        </p:nvSpPr>
        <p:spPr>
          <a:xfrm>
            <a:off x="762001" y="762000"/>
            <a:ext cx="3809999" cy="1524000"/>
          </a:xfrm>
        </p:spPr>
        <p:txBody>
          <a:bodyPr anchor="t"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BA3AA-DE44-4B1F-91D1-09F67B89B941}"/>
              </a:ext>
            </a:extLst>
          </p:cNvPr>
          <p:cNvSpPr>
            <a:spLocks noGrp="1"/>
          </p:cNvSpPr>
          <p:nvPr>
            <p:ph type="pic" idx="1"/>
          </p:nvPr>
        </p:nvSpPr>
        <p:spPr>
          <a:xfrm>
            <a:off x="5334000" y="762001"/>
            <a:ext cx="6021388" cy="5334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A27B131-5117-4106-80DB-2AB208C4C953}"/>
              </a:ext>
            </a:extLst>
          </p:cNvPr>
          <p:cNvSpPr>
            <a:spLocks noGrp="1"/>
          </p:cNvSpPr>
          <p:nvPr>
            <p:ph type="body" sz="half" idx="2"/>
          </p:nvPr>
        </p:nvSpPr>
        <p:spPr>
          <a:xfrm>
            <a:off x="762001" y="2286000"/>
            <a:ext cx="3809999" cy="381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3918A-7F23-4C72-8E80-591324A3046C}"/>
              </a:ext>
            </a:extLst>
          </p:cNvPr>
          <p:cNvSpPr>
            <a:spLocks noGrp="1"/>
          </p:cNvSpPr>
          <p:nvPr>
            <p:ph type="dt" sz="half" idx="10"/>
          </p:nvPr>
        </p:nvSpPr>
        <p:spPr/>
        <p:txBody>
          <a:bodyPr/>
          <a:lstStyle/>
          <a:p>
            <a:fld id="{76969C88-B244-455D-A017-012B25B1ACDD}" type="datetimeFigureOut">
              <a:rPr lang="en-US" smtClean="0"/>
              <a:t>6/5/2021</a:t>
            </a:fld>
            <a:endParaRPr lang="en-US"/>
          </a:p>
        </p:txBody>
      </p:sp>
      <p:sp>
        <p:nvSpPr>
          <p:cNvPr id="6" name="Footer Placeholder 5">
            <a:extLst>
              <a:ext uri="{FF2B5EF4-FFF2-40B4-BE49-F238E27FC236}">
                <a16:creationId xmlns:a16="http://schemas.microsoft.com/office/drawing/2014/main" id="{181071C8-76FE-4B83-8317-BD53C7C844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23681A-6F29-48FC-9409-319ED3E96635}"/>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272231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5B09-FC60-445F-8A12-79869BEC60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A219F7-87F2-409F-BB0B-8FE9270C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C2BB8-59E0-4EB2-B3BE-59D8641EE133}"/>
              </a:ext>
            </a:extLst>
          </p:cNvPr>
          <p:cNvSpPr>
            <a:spLocks noGrp="1"/>
          </p:cNvSpPr>
          <p:nvPr>
            <p:ph type="dt" sz="half" idx="10"/>
          </p:nvPr>
        </p:nvSpPr>
        <p:spPr/>
        <p:txBody>
          <a:bodyPr/>
          <a:lstStyle/>
          <a:p>
            <a:fld id="{76969C88-B244-455D-A017-012B25B1ACDD}" type="datetimeFigureOut">
              <a:rPr lang="en-US" smtClean="0"/>
              <a:t>6/5/2021</a:t>
            </a:fld>
            <a:endParaRPr lang="en-US"/>
          </a:p>
        </p:txBody>
      </p:sp>
      <p:sp>
        <p:nvSpPr>
          <p:cNvPr id="5" name="Footer Placeholder 4">
            <a:extLst>
              <a:ext uri="{FF2B5EF4-FFF2-40B4-BE49-F238E27FC236}">
                <a16:creationId xmlns:a16="http://schemas.microsoft.com/office/drawing/2014/main" id="{2D56984E-C0DE-461B-8011-8FC31B0EE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E7C03-68D3-445E-A5A2-8A935CFC97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700593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1F0D7-112D-48B1-B32B-170B1AA2B51E}"/>
              </a:ext>
            </a:extLst>
          </p:cNvPr>
          <p:cNvSpPr>
            <a:spLocks noGrp="1"/>
          </p:cNvSpPr>
          <p:nvPr>
            <p:ph type="title" orient="vert"/>
          </p:nvPr>
        </p:nvSpPr>
        <p:spPr>
          <a:xfrm>
            <a:off x="9143998" y="761999"/>
            <a:ext cx="2286000" cy="5334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7A7C1-8E5B-41DA-9802-F242D382B66B}"/>
              </a:ext>
            </a:extLst>
          </p:cNvPr>
          <p:cNvSpPr>
            <a:spLocks noGrp="1"/>
          </p:cNvSpPr>
          <p:nvPr>
            <p:ph type="body" orient="vert" idx="1"/>
          </p:nvPr>
        </p:nvSpPr>
        <p:spPr>
          <a:xfrm>
            <a:off x="762001" y="761999"/>
            <a:ext cx="7619999" cy="5334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61CC7-F5B1-464A-8127-60645FB21081}"/>
              </a:ext>
            </a:extLst>
          </p:cNvPr>
          <p:cNvSpPr>
            <a:spLocks noGrp="1"/>
          </p:cNvSpPr>
          <p:nvPr>
            <p:ph type="dt" sz="half" idx="10"/>
          </p:nvPr>
        </p:nvSpPr>
        <p:spPr/>
        <p:txBody>
          <a:bodyPr/>
          <a:lstStyle/>
          <a:p>
            <a:fld id="{76969C88-B244-455D-A017-012B25B1ACDD}" type="datetimeFigureOut">
              <a:rPr lang="en-US" smtClean="0"/>
              <a:t>6/5/2021</a:t>
            </a:fld>
            <a:endParaRPr lang="en-US"/>
          </a:p>
        </p:txBody>
      </p:sp>
      <p:sp>
        <p:nvSpPr>
          <p:cNvPr id="5" name="Footer Placeholder 4">
            <a:extLst>
              <a:ext uri="{FF2B5EF4-FFF2-40B4-BE49-F238E27FC236}">
                <a16:creationId xmlns:a16="http://schemas.microsoft.com/office/drawing/2014/main" id="{53B94302-B381-4F37-A9FF-5CC551917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07151-541F-4104-B989-83A9DCA6E61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357090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6EF5A53-0A64-4CA5-B9C7-1CB97CB5CF1C}"/>
              </a:ext>
            </a:extLst>
          </p:cNvPr>
          <p:cNvSpPr/>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1" name="Freeform: Shape 10">
            <a:extLst>
              <a:ext uri="{FF2B5EF4-FFF2-40B4-BE49-F238E27FC236}">
                <a16:creationId xmlns:a16="http://schemas.microsoft.com/office/drawing/2014/main" id="{34ABFBEA-4EB0-4D02-A2C0-1733CD3D6F12}"/>
              </a:ext>
            </a:extLst>
          </p:cNvPr>
          <p:cNvSpPr/>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2" name="Freeform: Shape 11">
            <a:extLst>
              <a:ext uri="{FF2B5EF4-FFF2-40B4-BE49-F238E27FC236}">
                <a16:creationId xmlns:a16="http://schemas.microsoft.com/office/drawing/2014/main" id="{19E083F6-57F4-487B-A766-EA0462B1EED8}"/>
              </a:ext>
            </a:extLst>
          </p:cNvPr>
          <p:cNvSpPr/>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laceholder 1">
            <a:extLst>
              <a:ext uri="{FF2B5EF4-FFF2-40B4-BE49-F238E27FC236}">
                <a16:creationId xmlns:a16="http://schemas.microsoft.com/office/drawing/2014/main" id="{A3A2F988-7148-4375-83D8-12EE5EBC7BE0}"/>
              </a:ext>
            </a:extLst>
          </p:cNvPr>
          <p:cNvSpPr>
            <a:spLocks noGrp="1"/>
          </p:cNvSpPr>
          <p:nvPr>
            <p:ph type="title"/>
          </p:nvPr>
        </p:nvSpPr>
        <p:spPr>
          <a:xfrm>
            <a:off x="762000" y="762000"/>
            <a:ext cx="10668000" cy="1524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896238-C5B3-4F3C-97FA-890E1A51A203}"/>
              </a:ext>
            </a:extLst>
          </p:cNvPr>
          <p:cNvSpPr>
            <a:spLocks noGrp="1"/>
          </p:cNvSpPr>
          <p:nvPr>
            <p:ph type="body" idx="1"/>
          </p:nvPr>
        </p:nvSpPr>
        <p:spPr>
          <a:xfrm>
            <a:off x="762000" y="2286000"/>
            <a:ext cx="10668000" cy="38180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D6E4474-0442-4E4B-9E5B-CA7B3951C1DA}"/>
              </a:ext>
            </a:extLst>
          </p:cNvPr>
          <p:cNvSpPr>
            <a:spLocks noGrp="1"/>
          </p:cNvSpPr>
          <p:nvPr>
            <p:ph type="dt" sz="half" idx="2"/>
          </p:nvPr>
        </p:nvSpPr>
        <p:spPr>
          <a:xfrm>
            <a:off x="9389165" y="194320"/>
            <a:ext cx="2040835"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76969C88-B244-455D-A017-012B25B1ACDD}" type="datetimeFigureOut">
              <a:rPr lang="en-US" smtClean="0"/>
              <a:pPr/>
              <a:t>6/5/2021</a:t>
            </a:fld>
            <a:endParaRPr lang="en-US"/>
          </a:p>
        </p:txBody>
      </p:sp>
      <p:sp>
        <p:nvSpPr>
          <p:cNvPr id="5" name="Footer Placeholder 4">
            <a:extLst>
              <a:ext uri="{FF2B5EF4-FFF2-40B4-BE49-F238E27FC236}">
                <a16:creationId xmlns:a16="http://schemas.microsoft.com/office/drawing/2014/main" id="{E0626A98-F887-40E1-B9BA-9D93DE90E022}"/>
              </a:ext>
            </a:extLst>
          </p:cNvPr>
          <p:cNvSpPr>
            <a:spLocks noGrp="1"/>
          </p:cNvSpPr>
          <p:nvPr>
            <p:ph type="ftr" sz="quarter" idx="3"/>
          </p:nvPr>
        </p:nvSpPr>
        <p:spPr>
          <a:xfrm>
            <a:off x="761999" y="6356350"/>
            <a:ext cx="6612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482C8119-73F6-4713-9AD3-3628DCDFB8F2}"/>
              </a:ext>
            </a:extLst>
          </p:cNvPr>
          <p:cNvSpPr>
            <a:spLocks noGrp="1"/>
          </p:cNvSpPr>
          <p:nvPr>
            <p:ph type="sldNum" sz="quarter" idx="4"/>
          </p:nvPr>
        </p:nvSpPr>
        <p:spPr>
          <a:xfrm>
            <a:off x="9906000" y="6356350"/>
            <a:ext cx="1524000"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07CE569E-9B7C-4CB9-AB80-C0841F922CFF}" type="slidenum">
              <a:rPr lang="en-US" smtClean="0"/>
              <a:pPr/>
              <a:t>‹#›</a:t>
            </a:fld>
            <a:endParaRPr lang="en-US"/>
          </a:p>
        </p:txBody>
      </p:sp>
    </p:spTree>
    <p:extLst>
      <p:ext uri="{BB962C8B-B14F-4D97-AF65-F5344CB8AC3E}">
        <p14:creationId xmlns:p14="http://schemas.microsoft.com/office/powerpoint/2010/main" val="398545538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alpha val="70000"/>
            </a:schemeClr>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2400" kern="1200">
          <a:solidFill>
            <a:schemeClr val="tx1">
              <a:alpha val="70000"/>
            </a:schemeClr>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2000" kern="1200">
          <a:solidFill>
            <a:schemeClr val="tx1">
              <a:alpha val="70000"/>
            </a:schemeClr>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480">
          <p15:clr>
            <a:srgbClr val="F26B43"/>
          </p15:clr>
        </p15:guide>
        <p15:guide id="3" pos="960">
          <p15:clr>
            <a:srgbClr val="F26B43"/>
          </p15:clr>
        </p15:guide>
        <p15:guide id="4" pos="1440">
          <p15:clr>
            <a:srgbClr val="F26B43"/>
          </p15:clr>
        </p15:guide>
        <p15:guide id="5" pos="1920">
          <p15:clr>
            <a:srgbClr val="F26B43"/>
          </p15:clr>
        </p15:guide>
        <p15:guide id="6" pos="2400">
          <p15:clr>
            <a:srgbClr val="F26B43"/>
          </p15:clr>
        </p15:guide>
        <p15:guide id="7" pos="2880">
          <p15:clr>
            <a:srgbClr val="F26B43"/>
          </p15:clr>
        </p15:guide>
        <p15:guide id="8" pos="3360">
          <p15:clr>
            <a:srgbClr val="F26B43"/>
          </p15:clr>
        </p15:guide>
        <p15:guide id="9" pos="3840">
          <p15:clr>
            <a:srgbClr val="F26B43"/>
          </p15:clr>
        </p15:guide>
        <p15:guide id="10" pos="4320">
          <p15:clr>
            <a:srgbClr val="F26B43"/>
          </p15:clr>
        </p15:guide>
        <p15:guide id="11" pos="4800">
          <p15:clr>
            <a:srgbClr val="F26B43"/>
          </p15:clr>
        </p15:guide>
        <p15:guide id="12" pos="5280">
          <p15:clr>
            <a:srgbClr val="F26B43"/>
          </p15:clr>
        </p15:guide>
        <p15:guide id="13" pos="5760">
          <p15:clr>
            <a:srgbClr val="F26B43"/>
          </p15:clr>
        </p15:guide>
        <p15:guide id="14" pos="6240">
          <p15:clr>
            <a:srgbClr val="F26B43"/>
          </p15:clr>
        </p15:guide>
        <p15:guide id="15" pos="6720">
          <p15:clr>
            <a:srgbClr val="F26B43"/>
          </p15:clr>
        </p15:guide>
        <p15:guide id="16" pos="7200">
          <p15:clr>
            <a:srgbClr val="F26B43"/>
          </p15:clr>
        </p15:guide>
        <p15:guide id="17" pos="7680">
          <p15:clr>
            <a:srgbClr val="F26B43"/>
          </p15:clr>
        </p15:guide>
        <p15:guide id="18" orient="horz">
          <p15:clr>
            <a:srgbClr val="F26B43"/>
          </p15:clr>
        </p15:guide>
        <p15:guide id="19" orient="horz" pos="480">
          <p15:clr>
            <a:srgbClr val="F26B43"/>
          </p15:clr>
        </p15:guide>
        <p15:guide id="20" orient="horz" pos="960">
          <p15:clr>
            <a:srgbClr val="F26B43"/>
          </p15:clr>
        </p15:guide>
        <p15:guide id="21" orient="horz" pos="1440">
          <p15:clr>
            <a:srgbClr val="F26B43"/>
          </p15:clr>
        </p15:guide>
        <p15:guide id="22" orient="horz" pos="1920">
          <p15:clr>
            <a:srgbClr val="F26B43"/>
          </p15:clr>
        </p15:guide>
        <p15:guide id="23" orient="horz" pos="2400">
          <p15:clr>
            <a:srgbClr val="F26B43"/>
          </p15:clr>
        </p15:guide>
        <p15:guide id="24" orient="horz" pos="2880">
          <p15:clr>
            <a:srgbClr val="F26B43"/>
          </p15:clr>
        </p15:guide>
        <p15:guide id="25" orient="horz" pos="3360">
          <p15:clr>
            <a:srgbClr val="F26B43"/>
          </p15:clr>
        </p15:guide>
        <p15:guide id="26" orient="horz" pos="3840">
          <p15:clr>
            <a:srgbClr val="F26B43"/>
          </p15:clr>
        </p15:guide>
        <p15:guide id="27" orient="horz" pos="43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1CB50FFB-462F-44DE-8A75-0C6EF25264E3}"/>
              </a:ext>
            </a:extLst>
          </p:cNvPr>
          <p:cNvSpPr>
            <a:spLocks noGrp="1"/>
          </p:cNvSpPr>
          <p:nvPr>
            <p:ph type="ctrTitle"/>
          </p:nvPr>
        </p:nvSpPr>
        <p:spPr>
          <a:xfrm>
            <a:off x="6858000" y="1524000"/>
            <a:ext cx="4572000" cy="2286000"/>
          </a:xfrm>
        </p:spPr>
        <p:txBody>
          <a:bodyPr>
            <a:normAutofit/>
          </a:bodyPr>
          <a:lstStyle/>
          <a:p>
            <a:pPr algn="l"/>
            <a:r>
              <a:rPr lang="en-US" sz="3700"/>
              <a:t>What contributes to Higher Taxes in Single Family Homes?</a:t>
            </a:r>
            <a:endParaRPr lang="en-US" sz="3700" dirty="0"/>
          </a:p>
        </p:txBody>
      </p:sp>
      <p:sp>
        <p:nvSpPr>
          <p:cNvPr id="3" name="Subtitle 2">
            <a:extLst>
              <a:ext uri="{FF2B5EF4-FFF2-40B4-BE49-F238E27FC236}">
                <a16:creationId xmlns:a16="http://schemas.microsoft.com/office/drawing/2014/main" id="{52336189-DA67-43C9-826F-2E0366FFECFA}"/>
              </a:ext>
            </a:extLst>
          </p:cNvPr>
          <p:cNvSpPr>
            <a:spLocks noGrp="1"/>
          </p:cNvSpPr>
          <p:nvPr>
            <p:ph type="subTitle" idx="1"/>
          </p:nvPr>
        </p:nvSpPr>
        <p:spPr>
          <a:xfrm>
            <a:off x="6858000" y="4571999"/>
            <a:ext cx="4572000" cy="1524000"/>
          </a:xfrm>
        </p:spPr>
        <p:txBody>
          <a:bodyPr>
            <a:normAutofit/>
          </a:bodyPr>
          <a:lstStyle/>
          <a:p>
            <a:pPr algn="l">
              <a:lnSpc>
                <a:spcPct val="115000"/>
              </a:lnSpc>
            </a:pPr>
            <a:r>
              <a:rPr lang="en-US" sz="2200"/>
              <a:t>Sadie Harper</a:t>
            </a:r>
          </a:p>
          <a:p>
            <a:pPr algn="l">
              <a:lnSpc>
                <a:spcPct val="115000"/>
              </a:lnSpc>
            </a:pPr>
            <a:r>
              <a:rPr lang="en-US" sz="2200"/>
              <a:t>DSC 530-T301</a:t>
            </a:r>
          </a:p>
          <a:p>
            <a:pPr algn="l">
              <a:lnSpc>
                <a:spcPct val="115000"/>
              </a:lnSpc>
            </a:pPr>
            <a:r>
              <a:rPr lang="en-US" sz="2200"/>
              <a:t>6/5/2021</a:t>
            </a:r>
            <a:endParaRPr lang="en-US" sz="2200" dirty="0"/>
          </a:p>
        </p:txBody>
      </p:sp>
      <p:sp>
        <p:nvSpPr>
          <p:cNvPr id="32" name="Freeform: Shape 31">
            <a:extLst>
              <a:ext uri="{FF2B5EF4-FFF2-40B4-BE49-F238E27FC236}">
                <a16:creationId xmlns:a16="http://schemas.microsoft.com/office/drawing/2014/main" id="{034693E6-E59B-4EC3-A1EA-E5A74E92F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3597" y="835592"/>
            <a:ext cx="6095980" cy="5948805"/>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F47DB6CD-8E9E-4643-B3B6-01BD80429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23838" y="538152"/>
            <a:ext cx="6095989" cy="654368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spTree>
    <p:extLst>
      <p:ext uri="{BB962C8B-B14F-4D97-AF65-F5344CB8AC3E}">
        <p14:creationId xmlns:p14="http://schemas.microsoft.com/office/powerpoint/2010/main" val="216469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BB173D-87E0-4551-8BC9-C3E1FDA86EF7}"/>
              </a:ext>
            </a:extLst>
          </p:cNvPr>
          <p:cNvSpPr>
            <a:spLocks noGrp="1"/>
          </p:cNvSpPr>
          <p:nvPr>
            <p:ph idx="1"/>
          </p:nvPr>
        </p:nvSpPr>
        <p:spPr>
          <a:xfrm>
            <a:off x="762000" y="1729740"/>
            <a:ext cx="10668000" cy="4374343"/>
          </a:xfrm>
        </p:spPr>
        <p:txBody>
          <a:bodyPr>
            <a:normAutofit fontScale="77500" lnSpcReduction="20000"/>
          </a:bodyPr>
          <a:lstStyle/>
          <a:p>
            <a:r>
              <a:rPr lang="en-US" dirty="0"/>
              <a:t>I used Zillow housing data from Kaggle and Zillow’s website</a:t>
            </a:r>
          </a:p>
          <a:p>
            <a:r>
              <a:rPr lang="en-US" dirty="0"/>
              <a:t>The dataset I analyze includes different variables for single family homes from Los Angeles County, Orange County, and Ventura County California from 2016-2017. </a:t>
            </a:r>
          </a:p>
          <a:p>
            <a:r>
              <a:rPr lang="en-US" dirty="0"/>
              <a:t>I am exploring the data to see if location and lot size contribute significantly to total tax amount spent on single family homes in these areas around 2015. </a:t>
            </a:r>
          </a:p>
          <a:p>
            <a:r>
              <a:rPr lang="en-US" dirty="0"/>
              <a:t>Sources</a:t>
            </a:r>
          </a:p>
          <a:p>
            <a:pPr lvl="1"/>
            <a:r>
              <a:rPr lang="en-US" dirty="0"/>
              <a:t>Zillow prize: Zillow's home Value Prediction Zestimate. (2017). Retrieved June 05, 2021, from https://www.kaggle.com/c/zillow-prize-1/data?select=properties_2016.csv</a:t>
            </a:r>
          </a:p>
          <a:p>
            <a:pPr lvl="1"/>
            <a:r>
              <a:rPr lang="en-US" dirty="0"/>
              <a:t>Zillow Research. (2021, March 25). Housing Data. Retrieved June 05, 2021, from https://www.zillow.com/research/data/</a:t>
            </a:r>
          </a:p>
          <a:p>
            <a:pPr lvl="1"/>
            <a:endParaRPr lang="en-US" dirty="0"/>
          </a:p>
        </p:txBody>
      </p:sp>
      <p:sp>
        <p:nvSpPr>
          <p:cNvPr id="4" name="Title 1">
            <a:extLst>
              <a:ext uri="{FF2B5EF4-FFF2-40B4-BE49-F238E27FC236}">
                <a16:creationId xmlns:a16="http://schemas.microsoft.com/office/drawing/2014/main" id="{9FB6D5D4-473A-4443-8D47-759DE4ABBA54}"/>
              </a:ext>
            </a:extLst>
          </p:cNvPr>
          <p:cNvSpPr txBox="1">
            <a:spLocks/>
          </p:cNvSpPr>
          <p:nvPr/>
        </p:nvSpPr>
        <p:spPr>
          <a:xfrm>
            <a:off x="762000" y="205740"/>
            <a:ext cx="10668000"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Dataset</a:t>
            </a:r>
          </a:p>
        </p:txBody>
      </p:sp>
    </p:spTree>
    <p:extLst>
      <p:ext uri="{BB962C8B-B14F-4D97-AF65-F5344CB8AC3E}">
        <p14:creationId xmlns:p14="http://schemas.microsoft.com/office/powerpoint/2010/main" val="3802684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998E3-32F1-4B14-9617-E37F0E18E2ED}"/>
              </a:ext>
            </a:extLst>
          </p:cNvPr>
          <p:cNvSpPr>
            <a:spLocks noGrp="1"/>
          </p:cNvSpPr>
          <p:nvPr>
            <p:ph type="title"/>
          </p:nvPr>
        </p:nvSpPr>
        <p:spPr/>
        <p:txBody>
          <a:bodyPr/>
          <a:lstStyle/>
          <a:p>
            <a:r>
              <a:rPr lang="en-US" dirty="0"/>
              <a:t>Variables for Analysis</a:t>
            </a:r>
          </a:p>
        </p:txBody>
      </p:sp>
      <p:sp>
        <p:nvSpPr>
          <p:cNvPr id="3" name="Content Placeholder 2">
            <a:extLst>
              <a:ext uri="{FF2B5EF4-FFF2-40B4-BE49-F238E27FC236}">
                <a16:creationId xmlns:a16="http://schemas.microsoft.com/office/drawing/2014/main" id="{C9F518AF-2594-424D-9F9A-0C433B99B29C}"/>
              </a:ext>
            </a:extLst>
          </p:cNvPr>
          <p:cNvSpPr>
            <a:spLocks noGrp="1"/>
          </p:cNvSpPr>
          <p:nvPr>
            <p:ph idx="1"/>
          </p:nvPr>
        </p:nvSpPr>
        <p:spPr>
          <a:xfrm>
            <a:off x="762000" y="2286000"/>
            <a:ext cx="5334000" cy="3818083"/>
          </a:xfrm>
        </p:spPr>
        <p:txBody>
          <a:bodyPr>
            <a:normAutofit fontScale="70000" lnSpcReduction="20000"/>
          </a:bodyPr>
          <a:lstStyle/>
          <a:p>
            <a:pPr marL="514350" indent="-514350">
              <a:buFont typeface="+mj-lt"/>
              <a:buAutoNum type="arabicPeriod"/>
            </a:pPr>
            <a:r>
              <a:rPr lang="en-US" dirty="0"/>
              <a:t>Total Tax Amount</a:t>
            </a:r>
          </a:p>
          <a:p>
            <a:pPr marL="514350" indent="-514350">
              <a:buFont typeface="+mj-lt"/>
              <a:buAutoNum type="arabicPeriod"/>
            </a:pPr>
            <a:r>
              <a:rPr lang="en-US" dirty="0"/>
              <a:t>Number of Bedrooms</a:t>
            </a:r>
          </a:p>
          <a:p>
            <a:pPr marL="514350" indent="-514350">
              <a:buFont typeface="+mj-lt"/>
              <a:buAutoNum type="arabicPeriod"/>
            </a:pPr>
            <a:r>
              <a:rPr lang="en-US" dirty="0"/>
              <a:t>Number of Bathrooms</a:t>
            </a:r>
          </a:p>
          <a:p>
            <a:pPr marL="514350" indent="-514350">
              <a:buFont typeface="+mj-lt"/>
              <a:buAutoNum type="arabicPeriod"/>
            </a:pPr>
            <a:r>
              <a:rPr lang="en-US" dirty="0"/>
              <a:t>Finished Living Area </a:t>
            </a:r>
            <a:r>
              <a:rPr lang="en-US" dirty="0" err="1"/>
              <a:t>Sqft</a:t>
            </a:r>
            <a:r>
              <a:rPr lang="en-US" dirty="0"/>
              <a:t>.</a:t>
            </a:r>
          </a:p>
          <a:p>
            <a:pPr marL="514350" indent="-514350">
              <a:buFont typeface="+mj-lt"/>
              <a:buAutoNum type="arabicPeriod"/>
            </a:pPr>
            <a:r>
              <a:rPr lang="en-US" dirty="0"/>
              <a:t>Lot </a:t>
            </a:r>
            <a:r>
              <a:rPr lang="en-US" dirty="0" err="1"/>
              <a:t>Sqft</a:t>
            </a:r>
            <a:r>
              <a:rPr lang="en-US" dirty="0"/>
              <a:t>.</a:t>
            </a:r>
          </a:p>
          <a:p>
            <a:pPr marL="514350" indent="-514350">
              <a:buFont typeface="+mj-lt"/>
              <a:buAutoNum type="arabicPeriod"/>
            </a:pPr>
            <a:r>
              <a:rPr lang="en-US" dirty="0"/>
              <a:t>Percent Change of Zillow’s typical home value from Jan. 2014 to Jan. 2015</a:t>
            </a:r>
          </a:p>
          <a:p>
            <a:pPr marL="514350" indent="-514350">
              <a:buFont typeface="+mj-lt"/>
              <a:buAutoNum type="arabicPeriod"/>
            </a:pPr>
            <a:r>
              <a:rPr lang="en-US" dirty="0"/>
              <a:t>County</a:t>
            </a:r>
          </a:p>
        </p:txBody>
      </p:sp>
      <p:sp>
        <p:nvSpPr>
          <p:cNvPr id="4" name="Content Placeholder 2">
            <a:extLst>
              <a:ext uri="{FF2B5EF4-FFF2-40B4-BE49-F238E27FC236}">
                <a16:creationId xmlns:a16="http://schemas.microsoft.com/office/drawing/2014/main" id="{5FB5BDE0-F8B8-4C41-825E-CB1130AC5B8E}"/>
              </a:ext>
            </a:extLst>
          </p:cNvPr>
          <p:cNvSpPr txBox="1">
            <a:spLocks/>
          </p:cNvSpPr>
          <p:nvPr/>
        </p:nvSpPr>
        <p:spPr>
          <a:xfrm>
            <a:off x="6096000" y="2286000"/>
            <a:ext cx="5334000" cy="381808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alpha val="70000"/>
                  </a:schemeClr>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2400" kern="1200">
                <a:solidFill>
                  <a:schemeClr val="tx1">
                    <a:alpha val="70000"/>
                  </a:schemeClr>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2000" kern="1200">
                <a:solidFill>
                  <a:schemeClr val="tx1">
                    <a:alpha val="70000"/>
                  </a:schemeClr>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Variable Selection Methods:</a:t>
            </a:r>
          </a:p>
          <a:p>
            <a:r>
              <a:rPr lang="en-US" dirty="0"/>
              <a:t>Low numbers of missing values</a:t>
            </a:r>
          </a:p>
          <a:p>
            <a:r>
              <a:rPr lang="en-US" dirty="0"/>
              <a:t>Available description of what the values represented</a:t>
            </a:r>
          </a:p>
          <a:p>
            <a:r>
              <a:rPr lang="en-US" dirty="0"/>
              <a:t>Information relevant to my hypothesis</a:t>
            </a:r>
          </a:p>
          <a:p>
            <a:endParaRPr lang="en-US" dirty="0"/>
          </a:p>
        </p:txBody>
      </p:sp>
    </p:spTree>
    <p:extLst>
      <p:ext uri="{BB962C8B-B14F-4D97-AF65-F5344CB8AC3E}">
        <p14:creationId xmlns:p14="http://schemas.microsoft.com/office/powerpoint/2010/main" val="1280302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21684-AEDF-4369-B409-5D1D1296352B}"/>
              </a:ext>
            </a:extLst>
          </p:cNvPr>
          <p:cNvSpPr>
            <a:spLocks noGrp="1"/>
          </p:cNvSpPr>
          <p:nvPr>
            <p:ph type="title"/>
          </p:nvPr>
        </p:nvSpPr>
        <p:spPr>
          <a:xfrm>
            <a:off x="762000" y="205740"/>
            <a:ext cx="10668000" cy="1524000"/>
          </a:xfrm>
        </p:spPr>
        <p:txBody>
          <a:bodyPr/>
          <a:lstStyle/>
          <a:p>
            <a:r>
              <a:rPr lang="en-US" dirty="0"/>
              <a:t>Total Tax Amount</a:t>
            </a:r>
          </a:p>
        </p:txBody>
      </p:sp>
      <p:graphicFrame>
        <p:nvGraphicFramePr>
          <p:cNvPr id="7" name="Table 7">
            <a:extLst>
              <a:ext uri="{FF2B5EF4-FFF2-40B4-BE49-F238E27FC236}">
                <a16:creationId xmlns:a16="http://schemas.microsoft.com/office/drawing/2014/main" id="{9B98BAC4-1015-4927-A234-931083274B3F}"/>
              </a:ext>
            </a:extLst>
          </p:cNvPr>
          <p:cNvGraphicFramePr>
            <a:graphicFrameLocks noGrp="1"/>
          </p:cNvGraphicFramePr>
          <p:nvPr>
            <p:ph sz="half" idx="1"/>
            <p:extLst>
              <p:ext uri="{D42A27DB-BD31-4B8C-83A1-F6EECF244321}">
                <p14:modId xmlns:p14="http://schemas.microsoft.com/office/powerpoint/2010/main" val="2388566711"/>
              </p:ext>
            </p:extLst>
          </p:nvPr>
        </p:nvGraphicFramePr>
        <p:xfrm>
          <a:off x="762000" y="1729740"/>
          <a:ext cx="5151438" cy="4450080"/>
        </p:xfrm>
        <a:graphic>
          <a:graphicData uri="http://schemas.openxmlformats.org/drawingml/2006/table">
            <a:tbl>
              <a:tblPr firstRow="1" bandRow="1">
                <a:tableStyleId>{D113A9D2-9D6B-4929-AA2D-F23B5EE8CBE7}</a:tableStyleId>
              </a:tblPr>
              <a:tblGrid>
                <a:gridCol w="2575719">
                  <a:extLst>
                    <a:ext uri="{9D8B030D-6E8A-4147-A177-3AD203B41FA5}">
                      <a16:colId xmlns:a16="http://schemas.microsoft.com/office/drawing/2014/main" val="528163032"/>
                    </a:ext>
                  </a:extLst>
                </a:gridCol>
                <a:gridCol w="2575719">
                  <a:extLst>
                    <a:ext uri="{9D8B030D-6E8A-4147-A177-3AD203B41FA5}">
                      <a16:colId xmlns:a16="http://schemas.microsoft.com/office/drawing/2014/main" val="1838448990"/>
                    </a:ext>
                  </a:extLst>
                </a:gridCol>
              </a:tblGrid>
              <a:tr h="370840">
                <a:tc>
                  <a:txBody>
                    <a:bodyPr/>
                    <a:lstStyle/>
                    <a:p>
                      <a:r>
                        <a:rPr lang="en-US" b="0" dirty="0"/>
                        <a:t>Count</a:t>
                      </a:r>
                    </a:p>
                  </a:txBody>
                  <a:tcPr>
                    <a:lnR w="9525" cap="flat" cmpd="sng" algn="ctr">
                      <a:solidFill>
                        <a:schemeClr val="accent1">
                          <a:lumMod val="20000"/>
                          <a:lumOff val="80000"/>
                        </a:schemeClr>
                      </a:solidFill>
                      <a:prstDash val="solid"/>
                      <a:round/>
                      <a:headEnd type="none" w="med" len="med"/>
                      <a:tailEnd type="none" w="med" len="med"/>
                    </a:lnR>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4298258.0</a:t>
                      </a:r>
                    </a:p>
                  </a:txBody>
                  <a:tcPr>
                    <a:lnL w="9525" cap="flat" cmpd="sng" algn="ctr">
                      <a:solidFill>
                        <a:schemeClr val="accent1">
                          <a:lumMod val="20000"/>
                          <a:lumOff val="80000"/>
                        </a:schemeClr>
                      </a:solidFill>
                      <a:prstDash val="solid"/>
                      <a:round/>
                      <a:headEnd type="none" w="med" len="med"/>
                      <a:tailEnd type="none" w="med" len="med"/>
                    </a:lnL>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4235038806"/>
                  </a:ext>
                </a:extLst>
              </a:tr>
              <a:tr h="370840">
                <a:tc>
                  <a:txBody>
                    <a:bodyPr/>
                    <a:lstStyle/>
                    <a:p>
                      <a:r>
                        <a:rPr lang="en-US" b="0" dirty="0"/>
                        <a:t>Mean</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449682.0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67954239"/>
                  </a:ext>
                </a:extLst>
              </a:tr>
              <a:tr h="370840">
                <a:tc>
                  <a:txBody>
                    <a:bodyPr/>
                    <a:lstStyle/>
                    <a:p>
                      <a:r>
                        <a:rPr lang="en-US" b="0" dirty="0"/>
                        <a:t>Standard Deviation</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675874.0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589777239"/>
                  </a:ext>
                </a:extLst>
              </a:tr>
              <a:tr h="370840">
                <a:tc>
                  <a:txBody>
                    <a:bodyPr/>
                    <a:lstStyle/>
                    <a:p>
                      <a:r>
                        <a:rPr lang="en-US" b="0" dirty="0"/>
                        <a:t>Min</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1.0</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235348937"/>
                  </a:ext>
                </a:extLst>
              </a:tr>
              <a:tr h="370840">
                <a:tc>
                  <a:txBody>
                    <a:bodyPr/>
                    <a:lstStyle/>
                    <a:p>
                      <a:r>
                        <a:rPr lang="en-US" b="0" dirty="0"/>
                        <a:t>25%</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183720.0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679253438"/>
                  </a:ext>
                </a:extLst>
              </a:tr>
              <a:tr h="370840">
                <a:tc>
                  <a:txBody>
                    <a:bodyPr/>
                    <a:lstStyle/>
                    <a:p>
                      <a:r>
                        <a:rPr lang="en-US" b="0" dirty="0"/>
                        <a:t>50%</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319798.0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798530179"/>
                  </a:ext>
                </a:extLst>
              </a:tr>
              <a:tr h="370840">
                <a:tc>
                  <a:txBody>
                    <a:bodyPr/>
                    <a:lstStyle/>
                    <a:p>
                      <a:r>
                        <a:rPr lang="en-US" b="0" dirty="0"/>
                        <a:t>75%</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520802.0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860577742"/>
                  </a:ext>
                </a:extLst>
              </a:tr>
              <a:tr h="370840">
                <a:tc>
                  <a:txBody>
                    <a:bodyPr/>
                    <a:lstStyle/>
                    <a:p>
                      <a:r>
                        <a:rPr lang="en-US" b="0" dirty="0"/>
                        <a:t>Max</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98428909.0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25836014"/>
                  </a:ext>
                </a:extLst>
              </a:tr>
              <a:tr h="370840">
                <a:tc>
                  <a:txBody>
                    <a:bodyPr/>
                    <a:lstStyle/>
                    <a:p>
                      <a:r>
                        <a:rPr lang="en-US" b="0" dirty="0"/>
                        <a:t>Spread</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98428908.0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322860835"/>
                  </a:ext>
                </a:extLst>
              </a:tr>
              <a:tr h="370840">
                <a:tc>
                  <a:txBody>
                    <a:bodyPr/>
                    <a:lstStyle/>
                    <a:p>
                      <a:r>
                        <a:rPr lang="en-US" b="0" dirty="0"/>
                        <a:t>Mode</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1 cluster</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670426994"/>
                  </a:ext>
                </a:extLst>
              </a:tr>
              <a:tr h="370840">
                <a:tc>
                  <a:txBody>
                    <a:bodyPr/>
                    <a:lstStyle/>
                    <a:p>
                      <a:r>
                        <a:rPr lang="en-US" b="0" dirty="0"/>
                        <a:t>Tails</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N/A</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602879358"/>
                  </a:ext>
                </a:extLst>
              </a:tr>
              <a:tr h="370840">
                <a:tc>
                  <a:txBody>
                    <a:bodyPr/>
                    <a:lstStyle/>
                    <a:p>
                      <a:r>
                        <a:rPr lang="en-US" b="0" dirty="0"/>
                        <a:t>Outliers</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tcPr>
                </a:tc>
                <a:tc>
                  <a:txBody>
                    <a:bodyPr/>
                    <a:lstStyle/>
                    <a:p>
                      <a:r>
                        <a:rPr lang="en-US" b="0" dirty="0"/>
                        <a:t>Yes: Max values</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tcPr>
                </a:tc>
                <a:extLst>
                  <a:ext uri="{0D108BD9-81ED-4DB2-BD59-A6C34878D82A}">
                    <a16:rowId xmlns:a16="http://schemas.microsoft.com/office/drawing/2014/main" val="3451879504"/>
                  </a:ext>
                </a:extLst>
              </a:tr>
            </a:tbl>
          </a:graphicData>
        </a:graphic>
      </p:graphicFrame>
      <p:pic>
        <p:nvPicPr>
          <p:cNvPr id="10" name="Picture 9" descr="Chart, histogram&#10;&#10;Description automatically generated">
            <a:extLst>
              <a:ext uri="{FF2B5EF4-FFF2-40B4-BE49-F238E27FC236}">
                <a16:creationId xmlns:a16="http://schemas.microsoft.com/office/drawing/2014/main" id="{4B3D8EF1-4910-43FA-8194-9DB98C3587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1602" y="2219077"/>
            <a:ext cx="5151119" cy="3471406"/>
          </a:xfrm>
          <a:prstGeom prst="rect">
            <a:avLst/>
          </a:prstGeom>
        </p:spPr>
      </p:pic>
    </p:spTree>
    <p:extLst>
      <p:ext uri="{BB962C8B-B14F-4D97-AF65-F5344CB8AC3E}">
        <p14:creationId xmlns:p14="http://schemas.microsoft.com/office/powerpoint/2010/main" val="2351258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a:extLst>
              <a:ext uri="{FF2B5EF4-FFF2-40B4-BE49-F238E27FC236}">
                <a16:creationId xmlns:a16="http://schemas.microsoft.com/office/drawing/2014/main" id="{9B98BAC4-1015-4927-A234-931083274B3F}"/>
              </a:ext>
            </a:extLst>
          </p:cNvPr>
          <p:cNvGraphicFramePr>
            <a:graphicFrameLocks noGrp="1"/>
          </p:cNvGraphicFramePr>
          <p:nvPr>
            <p:ph sz="half" idx="1"/>
            <p:extLst>
              <p:ext uri="{D42A27DB-BD31-4B8C-83A1-F6EECF244321}">
                <p14:modId xmlns:p14="http://schemas.microsoft.com/office/powerpoint/2010/main" val="2784970060"/>
              </p:ext>
            </p:extLst>
          </p:nvPr>
        </p:nvGraphicFramePr>
        <p:xfrm>
          <a:off x="762000" y="1729740"/>
          <a:ext cx="5151438" cy="4719320"/>
        </p:xfrm>
        <a:graphic>
          <a:graphicData uri="http://schemas.openxmlformats.org/drawingml/2006/table">
            <a:tbl>
              <a:tblPr firstRow="1" bandRow="1">
                <a:tableStyleId>{D113A9D2-9D6B-4929-AA2D-F23B5EE8CBE7}</a:tableStyleId>
              </a:tblPr>
              <a:tblGrid>
                <a:gridCol w="2575719">
                  <a:extLst>
                    <a:ext uri="{9D8B030D-6E8A-4147-A177-3AD203B41FA5}">
                      <a16:colId xmlns:a16="http://schemas.microsoft.com/office/drawing/2014/main" val="528163032"/>
                    </a:ext>
                  </a:extLst>
                </a:gridCol>
                <a:gridCol w="2575719">
                  <a:extLst>
                    <a:ext uri="{9D8B030D-6E8A-4147-A177-3AD203B41FA5}">
                      <a16:colId xmlns:a16="http://schemas.microsoft.com/office/drawing/2014/main" val="1838448990"/>
                    </a:ext>
                  </a:extLst>
                </a:gridCol>
              </a:tblGrid>
              <a:tr h="370840">
                <a:tc>
                  <a:txBody>
                    <a:bodyPr/>
                    <a:lstStyle/>
                    <a:p>
                      <a:r>
                        <a:rPr lang="en-US" b="0" dirty="0"/>
                        <a:t>Count</a:t>
                      </a:r>
                    </a:p>
                  </a:txBody>
                  <a:tcPr>
                    <a:lnR w="9525" cap="flat" cmpd="sng" algn="ctr">
                      <a:solidFill>
                        <a:schemeClr val="accent1">
                          <a:lumMod val="20000"/>
                          <a:lumOff val="80000"/>
                        </a:schemeClr>
                      </a:solidFill>
                      <a:prstDash val="solid"/>
                      <a:round/>
                      <a:headEnd type="none" w="med" len="med"/>
                      <a:tailEnd type="none" w="med" len="med"/>
                    </a:lnR>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4299223</a:t>
                      </a:r>
                    </a:p>
                  </a:txBody>
                  <a:tcPr>
                    <a:lnL w="9525" cap="flat" cmpd="sng" algn="ctr">
                      <a:solidFill>
                        <a:schemeClr val="accent1">
                          <a:lumMod val="20000"/>
                          <a:lumOff val="80000"/>
                        </a:schemeClr>
                      </a:solidFill>
                      <a:prstDash val="solid"/>
                      <a:round/>
                      <a:headEnd type="none" w="med" len="med"/>
                      <a:tailEnd type="none" w="med" len="med"/>
                    </a:lnL>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4235038806"/>
                  </a:ext>
                </a:extLst>
              </a:tr>
              <a:tr h="370840">
                <a:tc>
                  <a:txBody>
                    <a:bodyPr/>
                    <a:lstStyle/>
                    <a:p>
                      <a:r>
                        <a:rPr lang="en-US" b="0" dirty="0"/>
                        <a:t>Mean</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3</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67954239"/>
                  </a:ext>
                </a:extLst>
              </a:tr>
              <a:tr h="370840">
                <a:tc>
                  <a:txBody>
                    <a:bodyPr/>
                    <a:lstStyle/>
                    <a:p>
                      <a:r>
                        <a:rPr lang="en-US" b="0" dirty="0"/>
                        <a:t>Standard Deviation</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1</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589777239"/>
                  </a:ext>
                </a:extLst>
              </a:tr>
              <a:tr h="370840">
                <a:tc>
                  <a:txBody>
                    <a:bodyPr/>
                    <a:lstStyle/>
                    <a:p>
                      <a:r>
                        <a:rPr lang="en-US" b="0" dirty="0"/>
                        <a:t>Min</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0</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235348937"/>
                  </a:ext>
                </a:extLst>
              </a:tr>
              <a:tr h="370840">
                <a:tc>
                  <a:txBody>
                    <a:bodyPr/>
                    <a:lstStyle/>
                    <a:p>
                      <a:r>
                        <a:rPr lang="en-US" b="0" dirty="0"/>
                        <a:t>25%</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3</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679253438"/>
                  </a:ext>
                </a:extLst>
              </a:tr>
              <a:tr h="370840">
                <a:tc>
                  <a:txBody>
                    <a:bodyPr/>
                    <a:lstStyle/>
                    <a:p>
                      <a:r>
                        <a:rPr lang="en-US" b="0" dirty="0"/>
                        <a:t>50%</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3</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798530179"/>
                  </a:ext>
                </a:extLst>
              </a:tr>
              <a:tr h="370840">
                <a:tc>
                  <a:txBody>
                    <a:bodyPr/>
                    <a:lstStyle/>
                    <a:p>
                      <a:r>
                        <a:rPr lang="en-US" b="0" dirty="0"/>
                        <a:t>75%</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4</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860577742"/>
                  </a:ext>
                </a:extLst>
              </a:tr>
              <a:tr h="370840">
                <a:tc>
                  <a:txBody>
                    <a:bodyPr/>
                    <a:lstStyle/>
                    <a:p>
                      <a:r>
                        <a:rPr lang="en-US" b="0" dirty="0"/>
                        <a:t>Max</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25</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25836014"/>
                  </a:ext>
                </a:extLst>
              </a:tr>
              <a:tr h="370840">
                <a:tc>
                  <a:txBody>
                    <a:bodyPr/>
                    <a:lstStyle/>
                    <a:p>
                      <a:r>
                        <a:rPr lang="en-US" b="0" dirty="0"/>
                        <a:t>Spread</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25</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322860835"/>
                  </a:ext>
                </a:extLst>
              </a:tr>
              <a:tr h="370840">
                <a:tc>
                  <a:txBody>
                    <a:bodyPr/>
                    <a:lstStyle/>
                    <a:p>
                      <a:r>
                        <a:rPr lang="en-US" b="0" dirty="0"/>
                        <a:t>Mode</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1 cluster</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347640143"/>
                  </a:ext>
                </a:extLst>
              </a:tr>
              <a:tr h="370840">
                <a:tc>
                  <a:txBody>
                    <a:bodyPr/>
                    <a:lstStyle/>
                    <a:p>
                      <a:r>
                        <a:rPr lang="en-US" b="0" dirty="0"/>
                        <a:t>Tails</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Rapid drop towards max</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985498462"/>
                  </a:ext>
                </a:extLst>
              </a:tr>
              <a:tr h="370840">
                <a:tc>
                  <a:txBody>
                    <a:bodyPr/>
                    <a:lstStyle/>
                    <a:p>
                      <a:r>
                        <a:rPr lang="en-US" b="0" dirty="0"/>
                        <a:t>Outliers</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tcPr>
                </a:tc>
                <a:tc>
                  <a:txBody>
                    <a:bodyPr/>
                    <a:lstStyle/>
                    <a:p>
                      <a:r>
                        <a:rPr lang="en-US" b="0" dirty="0"/>
                        <a:t>Yes: Max values</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tcPr>
                </a:tc>
                <a:extLst>
                  <a:ext uri="{0D108BD9-81ED-4DB2-BD59-A6C34878D82A}">
                    <a16:rowId xmlns:a16="http://schemas.microsoft.com/office/drawing/2014/main" val="3792006032"/>
                  </a:ext>
                </a:extLst>
              </a:tr>
            </a:tbl>
          </a:graphicData>
        </a:graphic>
      </p:graphicFrame>
      <p:pic>
        <p:nvPicPr>
          <p:cNvPr id="8" name="Content Placeholder 7" descr="Chart, histogram&#10;&#10;Description automatically generated">
            <a:extLst>
              <a:ext uri="{FF2B5EF4-FFF2-40B4-BE49-F238E27FC236}">
                <a16:creationId xmlns:a16="http://schemas.microsoft.com/office/drawing/2014/main" id="{1A5173EB-EC83-462D-93AE-47BC949E0CE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12211" y="2129219"/>
            <a:ext cx="5298946" cy="3494232"/>
          </a:xfrm>
        </p:spPr>
      </p:pic>
      <p:sp>
        <p:nvSpPr>
          <p:cNvPr id="9" name="Title 1">
            <a:extLst>
              <a:ext uri="{FF2B5EF4-FFF2-40B4-BE49-F238E27FC236}">
                <a16:creationId xmlns:a16="http://schemas.microsoft.com/office/drawing/2014/main" id="{AB4CB294-69D0-4555-9AE5-FEC9660C9121}"/>
              </a:ext>
            </a:extLst>
          </p:cNvPr>
          <p:cNvSpPr txBox="1">
            <a:spLocks/>
          </p:cNvSpPr>
          <p:nvPr/>
        </p:nvSpPr>
        <p:spPr>
          <a:xfrm>
            <a:off x="762000" y="205740"/>
            <a:ext cx="10668000"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Number of Bedrooms</a:t>
            </a:r>
          </a:p>
        </p:txBody>
      </p:sp>
    </p:spTree>
    <p:extLst>
      <p:ext uri="{BB962C8B-B14F-4D97-AF65-F5344CB8AC3E}">
        <p14:creationId xmlns:p14="http://schemas.microsoft.com/office/powerpoint/2010/main" val="1214536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a:extLst>
              <a:ext uri="{FF2B5EF4-FFF2-40B4-BE49-F238E27FC236}">
                <a16:creationId xmlns:a16="http://schemas.microsoft.com/office/drawing/2014/main" id="{9B98BAC4-1015-4927-A234-931083274B3F}"/>
              </a:ext>
            </a:extLst>
          </p:cNvPr>
          <p:cNvGraphicFramePr>
            <a:graphicFrameLocks noGrp="1"/>
          </p:cNvGraphicFramePr>
          <p:nvPr>
            <p:ph sz="half" idx="1"/>
            <p:extLst>
              <p:ext uri="{D42A27DB-BD31-4B8C-83A1-F6EECF244321}">
                <p14:modId xmlns:p14="http://schemas.microsoft.com/office/powerpoint/2010/main" val="2688624422"/>
              </p:ext>
            </p:extLst>
          </p:nvPr>
        </p:nvGraphicFramePr>
        <p:xfrm>
          <a:off x="762000" y="1729740"/>
          <a:ext cx="5151438" cy="4719320"/>
        </p:xfrm>
        <a:graphic>
          <a:graphicData uri="http://schemas.openxmlformats.org/drawingml/2006/table">
            <a:tbl>
              <a:tblPr firstRow="1" bandRow="1">
                <a:tableStyleId>{D113A9D2-9D6B-4929-AA2D-F23B5EE8CBE7}</a:tableStyleId>
              </a:tblPr>
              <a:tblGrid>
                <a:gridCol w="2575719">
                  <a:extLst>
                    <a:ext uri="{9D8B030D-6E8A-4147-A177-3AD203B41FA5}">
                      <a16:colId xmlns:a16="http://schemas.microsoft.com/office/drawing/2014/main" val="528163032"/>
                    </a:ext>
                  </a:extLst>
                </a:gridCol>
                <a:gridCol w="2575719">
                  <a:extLst>
                    <a:ext uri="{9D8B030D-6E8A-4147-A177-3AD203B41FA5}">
                      <a16:colId xmlns:a16="http://schemas.microsoft.com/office/drawing/2014/main" val="1838448990"/>
                    </a:ext>
                  </a:extLst>
                </a:gridCol>
              </a:tblGrid>
              <a:tr h="370840">
                <a:tc>
                  <a:txBody>
                    <a:bodyPr/>
                    <a:lstStyle/>
                    <a:p>
                      <a:r>
                        <a:rPr lang="en-US" b="0" dirty="0"/>
                        <a:t>Count</a:t>
                      </a:r>
                    </a:p>
                  </a:txBody>
                  <a:tcPr>
                    <a:lnR w="9525" cap="flat" cmpd="sng" algn="ctr">
                      <a:solidFill>
                        <a:schemeClr val="accent1">
                          <a:lumMod val="20000"/>
                          <a:lumOff val="80000"/>
                        </a:schemeClr>
                      </a:solidFill>
                      <a:prstDash val="solid"/>
                      <a:round/>
                      <a:headEnd type="none" w="med" len="med"/>
                      <a:tailEnd type="none" w="med" len="med"/>
                    </a:lnR>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4299223</a:t>
                      </a:r>
                    </a:p>
                  </a:txBody>
                  <a:tcPr>
                    <a:lnL w="9525" cap="flat" cmpd="sng" algn="ctr">
                      <a:solidFill>
                        <a:schemeClr val="accent1">
                          <a:lumMod val="20000"/>
                          <a:lumOff val="80000"/>
                        </a:schemeClr>
                      </a:solidFill>
                      <a:prstDash val="solid"/>
                      <a:round/>
                      <a:headEnd type="none" w="med" len="med"/>
                      <a:tailEnd type="none" w="med" len="med"/>
                    </a:lnL>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4235038806"/>
                  </a:ext>
                </a:extLst>
              </a:tr>
              <a:tr h="370840">
                <a:tc>
                  <a:txBody>
                    <a:bodyPr/>
                    <a:lstStyle/>
                    <a:p>
                      <a:r>
                        <a:rPr lang="en-US" b="0" dirty="0"/>
                        <a:t>Mean</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2</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67954239"/>
                  </a:ext>
                </a:extLst>
              </a:tr>
              <a:tr h="370840">
                <a:tc>
                  <a:txBody>
                    <a:bodyPr/>
                    <a:lstStyle/>
                    <a:p>
                      <a:r>
                        <a:rPr lang="en-US" b="0" dirty="0"/>
                        <a:t>Standard Deviation</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1</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589777239"/>
                  </a:ext>
                </a:extLst>
              </a:tr>
              <a:tr h="370840">
                <a:tc>
                  <a:txBody>
                    <a:bodyPr/>
                    <a:lstStyle/>
                    <a:p>
                      <a:r>
                        <a:rPr lang="en-US" b="0" dirty="0"/>
                        <a:t>Min</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0</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235348937"/>
                  </a:ext>
                </a:extLst>
              </a:tr>
              <a:tr h="370840">
                <a:tc>
                  <a:txBody>
                    <a:bodyPr/>
                    <a:lstStyle/>
                    <a:p>
                      <a:r>
                        <a:rPr lang="en-US" b="0" dirty="0"/>
                        <a:t>25%</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2</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679253438"/>
                  </a:ext>
                </a:extLst>
              </a:tr>
              <a:tr h="370840">
                <a:tc>
                  <a:txBody>
                    <a:bodyPr/>
                    <a:lstStyle/>
                    <a:p>
                      <a:r>
                        <a:rPr lang="en-US" b="0" dirty="0"/>
                        <a:t>50%</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2</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798530179"/>
                  </a:ext>
                </a:extLst>
              </a:tr>
              <a:tr h="370840">
                <a:tc>
                  <a:txBody>
                    <a:bodyPr/>
                    <a:lstStyle/>
                    <a:p>
                      <a:r>
                        <a:rPr lang="en-US" b="0" dirty="0"/>
                        <a:t>75%</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3</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860577742"/>
                  </a:ext>
                </a:extLst>
              </a:tr>
              <a:tr h="370840">
                <a:tc>
                  <a:txBody>
                    <a:bodyPr/>
                    <a:lstStyle/>
                    <a:p>
                      <a:r>
                        <a:rPr lang="en-US" b="0" dirty="0"/>
                        <a:t>Max</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32</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25836014"/>
                  </a:ext>
                </a:extLst>
              </a:tr>
              <a:tr h="370840">
                <a:tc>
                  <a:txBody>
                    <a:bodyPr/>
                    <a:lstStyle/>
                    <a:p>
                      <a:r>
                        <a:rPr lang="en-US" b="0" dirty="0"/>
                        <a:t>Spread</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32</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322860835"/>
                  </a:ext>
                </a:extLst>
              </a:tr>
              <a:tr h="370840">
                <a:tc>
                  <a:txBody>
                    <a:bodyPr/>
                    <a:lstStyle/>
                    <a:p>
                      <a:r>
                        <a:rPr lang="en-US" b="0" dirty="0"/>
                        <a:t>Mode</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1 cluster</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375864017"/>
                  </a:ext>
                </a:extLst>
              </a:tr>
              <a:tr h="370840">
                <a:tc>
                  <a:txBody>
                    <a:bodyPr/>
                    <a:lstStyle/>
                    <a:p>
                      <a:r>
                        <a:rPr lang="en-US" b="0" dirty="0"/>
                        <a:t>Tails</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Rapid around mode and towards max</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91026492"/>
                  </a:ext>
                </a:extLst>
              </a:tr>
              <a:tr h="370840">
                <a:tc>
                  <a:txBody>
                    <a:bodyPr/>
                    <a:lstStyle/>
                    <a:p>
                      <a:r>
                        <a:rPr lang="en-US" b="0" dirty="0"/>
                        <a:t>Outliers</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tcPr>
                </a:tc>
                <a:tc>
                  <a:txBody>
                    <a:bodyPr/>
                    <a:lstStyle/>
                    <a:p>
                      <a:r>
                        <a:rPr lang="en-US" b="0" dirty="0"/>
                        <a:t>Yes: Max values</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tcPr>
                </a:tc>
                <a:extLst>
                  <a:ext uri="{0D108BD9-81ED-4DB2-BD59-A6C34878D82A}">
                    <a16:rowId xmlns:a16="http://schemas.microsoft.com/office/drawing/2014/main" val="4101420914"/>
                  </a:ext>
                </a:extLst>
              </a:tr>
            </a:tbl>
          </a:graphicData>
        </a:graphic>
      </p:graphicFrame>
      <p:pic>
        <p:nvPicPr>
          <p:cNvPr id="6" name="Content Placeholder 5">
            <a:extLst>
              <a:ext uri="{FF2B5EF4-FFF2-40B4-BE49-F238E27FC236}">
                <a16:creationId xmlns:a16="http://schemas.microsoft.com/office/drawing/2014/main" id="{DAB13719-AB29-4D5C-9A40-68642FA238B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70883" y="2179467"/>
            <a:ext cx="5170130" cy="3488582"/>
          </a:xfrm>
        </p:spPr>
      </p:pic>
      <p:sp>
        <p:nvSpPr>
          <p:cNvPr id="11" name="Title 1">
            <a:extLst>
              <a:ext uri="{FF2B5EF4-FFF2-40B4-BE49-F238E27FC236}">
                <a16:creationId xmlns:a16="http://schemas.microsoft.com/office/drawing/2014/main" id="{94F60093-CA1A-478C-96E6-035346B9540E}"/>
              </a:ext>
            </a:extLst>
          </p:cNvPr>
          <p:cNvSpPr txBox="1">
            <a:spLocks/>
          </p:cNvSpPr>
          <p:nvPr/>
        </p:nvSpPr>
        <p:spPr>
          <a:xfrm>
            <a:off x="762000" y="205740"/>
            <a:ext cx="10668000"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Number of Bathrooms</a:t>
            </a:r>
          </a:p>
        </p:txBody>
      </p:sp>
    </p:spTree>
    <p:extLst>
      <p:ext uri="{BB962C8B-B14F-4D97-AF65-F5344CB8AC3E}">
        <p14:creationId xmlns:p14="http://schemas.microsoft.com/office/powerpoint/2010/main" val="951600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a:extLst>
              <a:ext uri="{FF2B5EF4-FFF2-40B4-BE49-F238E27FC236}">
                <a16:creationId xmlns:a16="http://schemas.microsoft.com/office/drawing/2014/main" id="{9B98BAC4-1015-4927-A234-931083274B3F}"/>
              </a:ext>
            </a:extLst>
          </p:cNvPr>
          <p:cNvGraphicFramePr>
            <a:graphicFrameLocks noGrp="1"/>
          </p:cNvGraphicFramePr>
          <p:nvPr>
            <p:ph sz="half" idx="1"/>
            <p:extLst>
              <p:ext uri="{D42A27DB-BD31-4B8C-83A1-F6EECF244321}">
                <p14:modId xmlns:p14="http://schemas.microsoft.com/office/powerpoint/2010/main" val="759939709"/>
              </p:ext>
            </p:extLst>
          </p:nvPr>
        </p:nvGraphicFramePr>
        <p:xfrm>
          <a:off x="762000" y="1730523"/>
          <a:ext cx="5151438" cy="4450080"/>
        </p:xfrm>
        <a:graphic>
          <a:graphicData uri="http://schemas.openxmlformats.org/drawingml/2006/table">
            <a:tbl>
              <a:tblPr firstRow="1" bandRow="1">
                <a:tableStyleId>{D113A9D2-9D6B-4929-AA2D-F23B5EE8CBE7}</a:tableStyleId>
              </a:tblPr>
              <a:tblGrid>
                <a:gridCol w="2575719">
                  <a:extLst>
                    <a:ext uri="{9D8B030D-6E8A-4147-A177-3AD203B41FA5}">
                      <a16:colId xmlns:a16="http://schemas.microsoft.com/office/drawing/2014/main" val="528163032"/>
                    </a:ext>
                  </a:extLst>
                </a:gridCol>
                <a:gridCol w="2575719">
                  <a:extLst>
                    <a:ext uri="{9D8B030D-6E8A-4147-A177-3AD203B41FA5}">
                      <a16:colId xmlns:a16="http://schemas.microsoft.com/office/drawing/2014/main" val="1838448990"/>
                    </a:ext>
                  </a:extLst>
                </a:gridCol>
              </a:tblGrid>
              <a:tr h="370840">
                <a:tc>
                  <a:txBody>
                    <a:bodyPr/>
                    <a:lstStyle/>
                    <a:p>
                      <a:r>
                        <a:rPr lang="en-US" b="0" dirty="0"/>
                        <a:t>Count</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4281255.0</a:t>
                      </a:r>
                    </a:p>
                  </a:txBody>
                  <a:tcPr>
                    <a:lnL w="9525" cap="flat" cmpd="sng" algn="ctr">
                      <a:solidFill>
                        <a:schemeClr val="accent1">
                          <a:lumMod val="20000"/>
                          <a:lumOff val="80000"/>
                        </a:schemeClr>
                      </a:solidFill>
                      <a:prstDash val="solid"/>
                      <a:round/>
                      <a:headEnd type="none" w="med" len="med"/>
                      <a:tailEnd type="none" w="med" len="med"/>
                    </a:lnL>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4235038806"/>
                  </a:ext>
                </a:extLst>
              </a:tr>
              <a:tr h="370840">
                <a:tc>
                  <a:txBody>
                    <a:bodyPr/>
                    <a:lstStyle/>
                    <a:p>
                      <a:r>
                        <a:rPr lang="en-US" b="0" dirty="0"/>
                        <a:t>Mean</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1861.0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67954239"/>
                  </a:ext>
                </a:extLst>
              </a:tr>
              <a:tr h="370840">
                <a:tc>
                  <a:txBody>
                    <a:bodyPr/>
                    <a:lstStyle/>
                    <a:p>
                      <a:r>
                        <a:rPr lang="en-US" b="0" dirty="0"/>
                        <a:t>Standard Deviation</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1219.0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589777239"/>
                  </a:ext>
                </a:extLst>
              </a:tr>
              <a:tr h="370840">
                <a:tc>
                  <a:txBody>
                    <a:bodyPr/>
                    <a:lstStyle/>
                    <a:p>
                      <a:r>
                        <a:rPr lang="en-US" b="0" dirty="0"/>
                        <a:t>Min</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1.0</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235348937"/>
                  </a:ext>
                </a:extLst>
              </a:tr>
              <a:tr h="370840">
                <a:tc>
                  <a:txBody>
                    <a:bodyPr/>
                    <a:lstStyle/>
                    <a:p>
                      <a:r>
                        <a:rPr lang="en-US" b="0" dirty="0"/>
                        <a:t>25%</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1256.0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679253438"/>
                  </a:ext>
                </a:extLst>
              </a:tr>
              <a:tr h="370840">
                <a:tc>
                  <a:txBody>
                    <a:bodyPr/>
                    <a:lstStyle/>
                    <a:p>
                      <a:r>
                        <a:rPr lang="en-US" b="0" dirty="0"/>
                        <a:t>50%</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1621.0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798530179"/>
                  </a:ext>
                </a:extLst>
              </a:tr>
              <a:tr h="370840">
                <a:tc>
                  <a:txBody>
                    <a:bodyPr/>
                    <a:lstStyle/>
                    <a:p>
                      <a:r>
                        <a:rPr lang="en-US" b="0" dirty="0"/>
                        <a:t>75%</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2205.0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860577742"/>
                  </a:ext>
                </a:extLst>
              </a:tr>
              <a:tr h="370840">
                <a:tc>
                  <a:txBody>
                    <a:bodyPr/>
                    <a:lstStyle/>
                    <a:p>
                      <a:r>
                        <a:rPr lang="en-US" b="0" dirty="0"/>
                        <a:t>Max</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952576.0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25836014"/>
                  </a:ext>
                </a:extLst>
              </a:tr>
              <a:tr h="370840">
                <a:tc>
                  <a:txBody>
                    <a:bodyPr/>
                    <a:lstStyle/>
                    <a:p>
                      <a:r>
                        <a:rPr lang="en-US" b="0" dirty="0"/>
                        <a:t>Spread</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952575.0</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322860835"/>
                  </a:ext>
                </a:extLst>
              </a:tr>
              <a:tr h="370840">
                <a:tc>
                  <a:txBody>
                    <a:bodyPr/>
                    <a:lstStyle/>
                    <a:p>
                      <a:r>
                        <a:rPr lang="en-US" b="0" dirty="0"/>
                        <a:t>Mode</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1 cluster</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578074334"/>
                  </a:ext>
                </a:extLst>
              </a:tr>
              <a:tr h="370840">
                <a:tc>
                  <a:txBody>
                    <a:bodyPr/>
                    <a:lstStyle/>
                    <a:p>
                      <a:r>
                        <a:rPr lang="en-US" b="0" dirty="0"/>
                        <a:t>Tails</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N/A</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228169513"/>
                  </a:ext>
                </a:extLst>
              </a:tr>
              <a:tr h="370840">
                <a:tc>
                  <a:txBody>
                    <a:bodyPr/>
                    <a:lstStyle/>
                    <a:p>
                      <a:r>
                        <a:rPr lang="en-US" b="0" dirty="0"/>
                        <a:t>Outliers</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tcPr>
                </a:tc>
                <a:tc>
                  <a:txBody>
                    <a:bodyPr/>
                    <a:lstStyle/>
                    <a:p>
                      <a:r>
                        <a:rPr lang="en-US" b="0" dirty="0"/>
                        <a:t>Yes: Max values</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tcPr>
                </a:tc>
                <a:extLst>
                  <a:ext uri="{0D108BD9-81ED-4DB2-BD59-A6C34878D82A}">
                    <a16:rowId xmlns:a16="http://schemas.microsoft.com/office/drawing/2014/main" val="834464158"/>
                  </a:ext>
                </a:extLst>
              </a:tr>
            </a:tbl>
          </a:graphicData>
        </a:graphic>
      </p:graphicFrame>
      <p:pic>
        <p:nvPicPr>
          <p:cNvPr id="8" name="Content Placeholder 7" descr="Chart&#10;&#10;Description automatically generated">
            <a:extLst>
              <a:ext uri="{FF2B5EF4-FFF2-40B4-BE49-F238E27FC236}">
                <a16:creationId xmlns:a16="http://schemas.microsoft.com/office/drawing/2014/main" id="{48468314-2183-44E9-BCDD-29340E04C35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40559" y="2223855"/>
            <a:ext cx="5511128" cy="3463415"/>
          </a:xfrm>
        </p:spPr>
      </p:pic>
      <p:sp>
        <p:nvSpPr>
          <p:cNvPr id="9" name="Title 1">
            <a:extLst>
              <a:ext uri="{FF2B5EF4-FFF2-40B4-BE49-F238E27FC236}">
                <a16:creationId xmlns:a16="http://schemas.microsoft.com/office/drawing/2014/main" id="{3E456633-559F-491A-AF9F-76D27C22AFAD}"/>
              </a:ext>
            </a:extLst>
          </p:cNvPr>
          <p:cNvSpPr txBox="1">
            <a:spLocks/>
          </p:cNvSpPr>
          <p:nvPr/>
        </p:nvSpPr>
        <p:spPr>
          <a:xfrm>
            <a:off x="762000" y="205740"/>
            <a:ext cx="10668000"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Finished Living Area </a:t>
            </a:r>
            <a:r>
              <a:rPr lang="en-US" dirty="0" err="1"/>
              <a:t>Sqft</a:t>
            </a:r>
            <a:r>
              <a:rPr lang="en-US" dirty="0"/>
              <a:t>.</a:t>
            </a:r>
          </a:p>
        </p:txBody>
      </p:sp>
    </p:spTree>
    <p:extLst>
      <p:ext uri="{BB962C8B-B14F-4D97-AF65-F5344CB8AC3E}">
        <p14:creationId xmlns:p14="http://schemas.microsoft.com/office/powerpoint/2010/main" val="1703851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a:extLst>
              <a:ext uri="{FF2B5EF4-FFF2-40B4-BE49-F238E27FC236}">
                <a16:creationId xmlns:a16="http://schemas.microsoft.com/office/drawing/2014/main" id="{9B98BAC4-1015-4927-A234-931083274B3F}"/>
              </a:ext>
            </a:extLst>
          </p:cNvPr>
          <p:cNvGraphicFramePr>
            <a:graphicFrameLocks noGrp="1"/>
          </p:cNvGraphicFramePr>
          <p:nvPr>
            <p:ph sz="half" idx="1"/>
            <p:extLst>
              <p:ext uri="{D42A27DB-BD31-4B8C-83A1-F6EECF244321}">
                <p14:modId xmlns:p14="http://schemas.microsoft.com/office/powerpoint/2010/main" val="1845687199"/>
              </p:ext>
            </p:extLst>
          </p:nvPr>
        </p:nvGraphicFramePr>
        <p:xfrm>
          <a:off x="762000" y="1729740"/>
          <a:ext cx="5151438" cy="4450080"/>
        </p:xfrm>
        <a:graphic>
          <a:graphicData uri="http://schemas.openxmlformats.org/drawingml/2006/table">
            <a:tbl>
              <a:tblPr firstRow="1" bandRow="1">
                <a:tableStyleId>{D113A9D2-9D6B-4929-AA2D-F23B5EE8CBE7}</a:tableStyleId>
              </a:tblPr>
              <a:tblGrid>
                <a:gridCol w="2575719">
                  <a:extLst>
                    <a:ext uri="{9D8B030D-6E8A-4147-A177-3AD203B41FA5}">
                      <a16:colId xmlns:a16="http://schemas.microsoft.com/office/drawing/2014/main" val="528163032"/>
                    </a:ext>
                  </a:extLst>
                </a:gridCol>
                <a:gridCol w="2575719">
                  <a:extLst>
                    <a:ext uri="{9D8B030D-6E8A-4147-A177-3AD203B41FA5}">
                      <a16:colId xmlns:a16="http://schemas.microsoft.com/office/drawing/2014/main" val="1838448990"/>
                    </a:ext>
                  </a:extLst>
                </a:gridCol>
              </a:tblGrid>
              <a:tr h="370840">
                <a:tc>
                  <a:txBody>
                    <a:bodyPr/>
                    <a:lstStyle/>
                    <a:p>
                      <a:r>
                        <a:rPr lang="en-US" b="0" dirty="0"/>
                        <a:t>Count</a:t>
                      </a:r>
                    </a:p>
                  </a:txBody>
                  <a:tcPr>
                    <a:lnR w="9525" cap="flat" cmpd="sng" algn="ctr">
                      <a:solidFill>
                        <a:schemeClr val="accent1">
                          <a:lumMod val="20000"/>
                          <a:lumOff val="80000"/>
                        </a:schemeClr>
                      </a:solidFill>
                      <a:prstDash val="solid"/>
                      <a:round/>
                      <a:headEnd type="none" w="med" len="med"/>
                      <a:tailEnd type="none" w="med" len="med"/>
                    </a:lnR>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4273470.0</a:t>
                      </a:r>
                    </a:p>
                  </a:txBody>
                  <a:tcPr>
                    <a:lnL w="9525" cap="flat" cmpd="sng" algn="ctr">
                      <a:solidFill>
                        <a:schemeClr val="accent1">
                          <a:lumMod val="20000"/>
                          <a:lumOff val="80000"/>
                        </a:schemeClr>
                      </a:solidFill>
                      <a:prstDash val="solid"/>
                      <a:round/>
                      <a:headEnd type="none" w="med" len="med"/>
                      <a:tailEnd type="none" w="med" len="med"/>
                    </a:lnL>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4235038806"/>
                  </a:ext>
                </a:extLst>
              </a:tr>
              <a:tr h="370840">
                <a:tc>
                  <a:txBody>
                    <a:bodyPr/>
                    <a:lstStyle/>
                    <a:p>
                      <a:r>
                        <a:rPr lang="en-US" b="0" dirty="0"/>
                        <a:t>Mean</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11184.0</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67954239"/>
                  </a:ext>
                </a:extLst>
              </a:tr>
              <a:tr h="370840">
                <a:tc>
                  <a:txBody>
                    <a:bodyPr/>
                    <a:lstStyle/>
                    <a:p>
                      <a:r>
                        <a:rPr lang="en-US" b="0" dirty="0"/>
                        <a:t>Standard Deviation</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321108.0</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589777239"/>
                  </a:ext>
                </a:extLst>
              </a:tr>
              <a:tr h="370840">
                <a:tc>
                  <a:txBody>
                    <a:bodyPr/>
                    <a:lstStyle/>
                    <a:p>
                      <a:r>
                        <a:rPr lang="en-US" b="0" dirty="0"/>
                        <a:t>Min</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100.0</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235348937"/>
                  </a:ext>
                </a:extLst>
              </a:tr>
              <a:tr h="370840">
                <a:tc>
                  <a:txBody>
                    <a:bodyPr/>
                    <a:lstStyle/>
                    <a:p>
                      <a:r>
                        <a:rPr lang="en-US" b="0" dirty="0"/>
                        <a:t>25%</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5635.0</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679253438"/>
                  </a:ext>
                </a:extLst>
              </a:tr>
              <a:tr h="370840">
                <a:tc>
                  <a:txBody>
                    <a:bodyPr/>
                    <a:lstStyle/>
                    <a:p>
                      <a:r>
                        <a:rPr lang="en-US" b="0" dirty="0"/>
                        <a:t>50%</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6760.0</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798530179"/>
                  </a:ext>
                </a:extLst>
              </a:tr>
              <a:tr h="370840">
                <a:tc>
                  <a:txBody>
                    <a:bodyPr/>
                    <a:lstStyle/>
                    <a:p>
                      <a:r>
                        <a:rPr lang="en-US" b="0" dirty="0"/>
                        <a:t>75%</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8550.0</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860577742"/>
                  </a:ext>
                </a:extLst>
              </a:tr>
              <a:tr h="370840">
                <a:tc>
                  <a:txBody>
                    <a:bodyPr/>
                    <a:lstStyle/>
                    <a:p>
                      <a:r>
                        <a:rPr lang="en-US" b="0" dirty="0"/>
                        <a:t>Max</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371000512.0</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25836014"/>
                  </a:ext>
                </a:extLst>
              </a:tr>
              <a:tr h="370840">
                <a:tc>
                  <a:txBody>
                    <a:bodyPr/>
                    <a:lstStyle/>
                    <a:p>
                      <a:r>
                        <a:rPr lang="en-US" b="0" dirty="0"/>
                        <a:t>Spread</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371000412.0</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322860835"/>
                  </a:ext>
                </a:extLst>
              </a:tr>
              <a:tr h="370840">
                <a:tc>
                  <a:txBody>
                    <a:bodyPr/>
                    <a:lstStyle/>
                    <a:p>
                      <a:r>
                        <a:rPr lang="en-US" b="0" dirty="0"/>
                        <a:t>Mode</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1 cluster</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0163707"/>
                  </a:ext>
                </a:extLst>
              </a:tr>
              <a:tr h="370840">
                <a:tc>
                  <a:txBody>
                    <a:bodyPr/>
                    <a:lstStyle/>
                    <a:p>
                      <a:r>
                        <a:rPr lang="en-US" b="0" dirty="0"/>
                        <a:t>Tails</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N/A</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752228674"/>
                  </a:ext>
                </a:extLst>
              </a:tr>
              <a:tr h="370840">
                <a:tc>
                  <a:txBody>
                    <a:bodyPr/>
                    <a:lstStyle/>
                    <a:p>
                      <a:r>
                        <a:rPr lang="en-US" b="0" dirty="0"/>
                        <a:t>Outliers</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tcPr>
                </a:tc>
                <a:tc>
                  <a:txBody>
                    <a:bodyPr/>
                    <a:lstStyle/>
                    <a:p>
                      <a:r>
                        <a:rPr lang="en-US" b="0" dirty="0"/>
                        <a:t>Yes: Max values</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tcPr>
                </a:tc>
                <a:extLst>
                  <a:ext uri="{0D108BD9-81ED-4DB2-BD59-A6C34878D82A}">
                    <a16:rowId xmlns:a16="http://schemas.microsoft.com/office/drawing/2014/main" val="3217984778"/>
                  </a:ext>
                </a:extLst>
              </a:tr>
            </a:tbl>
          </a:graphicData>
        </a:graphic>
      </p:graphicFrame>
      <p:pic>
        <p:nvPicPr>
          <p:cNvPr id="6" name="Content Placeholder 5" descr="Chart&#10;&#10;Description automatically generated">
            <a:extLst>
              <a:ext uri="{FF2B5EF4-FFF2-40B4-BE49-F238E27FC236}">
                <a16:creationId xmlns:a16="http://schemas.microsoft.com/office/drawing/2014/main" id="{AAA89059-D9E6-4CB2-89B1-4E65A760C44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00226" y="2234953"/>
            <a:ext cx="5240193" cy="3439653"/>
          </a:xfrm>
        </p:spPr>
      </p:pic>
      <p:sp>
        <p:nvSpPr>
          <p:cNvPr id="11" name="Title 1">
            <a:extLst>
              <a:ext uri="{FF2B5EF4-FFF2-40B4-BE49-F238E27FC236}">
                <a16:creationId xmlns:a16="http://schemas.microsoft.com/office/drawing/2014/main" id="{672BF611-A91B-4142-AB43-954F011709A4}"/>
              </a:ext>
            </a:extLst>
          </p:cNvPr>
          <p:cNvSpPr txBox="1">
            <a:spLocks/>
          </p:cNvSpPr>
          <p:nvPr/>
        </p:nvSpPr>
        <p:spPr>
          <a:xfrm>
            <a:off x="762000" y="205740"/>
            <a:ext cx="10668000"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Lot </a:t>
            </a:r>
            <a:r>
              <a:rPr lang="en-US" dirty="0" err="1"/>
              <a:t>Sqft</a:t>
            </a:r>
            <a:r>
              <a:rPr lang="en-US" dirty="0"/>
              <a:t>.</a:t>
            </a:r>
          </a:p>
        </p:txBody>
      </p:sp>
    </p:spTree>
    <p:extLst>
      <p:ext uri="{BB962C8B-B14F-4D97-AF65-F5344CB8AC3E}">
        <p14:creationId xmlns:p14="http://schemas.microsoft.com/office/powerpoint/2010/main" val="4286631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72BF611-A91B-4142-AB43-954F011709A4}"/>
              </a:ext>
            </a:extLst>
          </p:cNvPr>
          <p:cNvSpPr txBox="1">
            <a:spLocks/>
          </p:cNvSpPr>
          <p:nvPr/>
        </p:nvSpPr>
        <p:spPr>
          <a:xfrm>
            <a:off x="762000" y="205740"/>
            <a:ext cx="5151119"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Histograms: Again</a:t>
            </a:r>
          </a:p>
        </p:txBody>
      </p:sp>
      <p:sp>
        <p:nvSpPr>
          <p:cNvPr id="3" name="Content Placeholder 2">
            <a:extLst>
              <a:ext uri="{FF2B5EF4-FFF2-40B4-BE49-F238E27FC236}">
                <a16:creationId xmlns:a16="http://schemas.microsoft.com/office/drawing/2014/main" id="{1B16947A-E101-43A9-80C8-539EBB75600B}"/>
              </a:ext>
            </a:extLst>
          </p:cNvPr>
          <p:cNvSpPr>
            <a:spLocks noGrp="1"/>
          </p:cNvSpPr>
          <p:nvPr>
            <p:ph sz="half" idx="1"/>
          </p:nvPr>
        </p:nvSpPr>
        <p:spPr>
          <a:xfrm>
            <a:off x="762000" y="1729741"/>
            <a:ext cx="5151119" cy="1699260"/>
          </a:xfrm>
        </p:spPr>
        <p:txBody>
          <a:bodyPr>
            <a:normAutofit fontScale="70000" lnSpcReduction="20000"/>
          </a:bodyPr>
          <a:lstStyle/>
          <a:p>
            <a:r>
              <a:rPr lang="en-US" dirty="0"/>
              <a:t>I applied to following filters to the property data to remove outliers and try to make the data fit a more typical single-family home; the visuals represent the new histograms after these changes.</a:t>
            </a:r>
          </a:p>
        </p:txBody>
      </p:sp>
      <p:graphicFrame>
        <p:nvGraphicFramePr>
          <p:cNvPr id="9" name="Table 7">
            <a:extLst>
              <a:ext uri="{FF2B5EF4-FFF2-40B4-BE49-F238E27FC236}">
                <a16:creationId xmlns:a16="http://schemas.microsoft.com/office/drawing/2014/main" id="{CA5B7B9D-0D15-48C7-A535-8099E437A7BC}"/>
              </a:ext>
            </a:extLst>
          </p:cNvPr>
          <p:cNvGraphicFramePr>
            <a:graphicFrameLocks/>
          </p:cNvGraphicFramePr>
          <p:nvPr>
            <p:extLst>
              <p:ext uri="{D42A27DB-BD31-4B8C-83A1-F6EECF244321}">
                <p14:modId xmlns:p14="http://schemas.microsoft.com/office/powerpoint/2010/main" val="1640645042"/>
              </p:ext>
            </p:extLst>
          </p:nvPr>
        </p:nvGraphicFramePr>
        <p:xfrm>
          <a:off x="762000" y="3540785"/>
          <a:ext cx="5151438" cy="2931160"/>
        </p:xfrm>
        <a:graphic>
          <a:graphicData uri="http://schemas.openxmlformats.org/drawingml/2006/table">
            <a:tbl>
              <a:tblPr firstRow="1" bandRow="1">
                <a:tableStyleId>{D113A9D2-9D6B-4929-AA2D-F23B5EE8CBE7}</a:tableStyleId>
              </a:tblPr>
              <a:tblGrid>
                <a:gridCol w="1717146">
                  <a:extLst>
                    <a:ext uri="{9D8B030D-6E8A-4147-A177-3AD203B41FA5}">
                      <a16:colId xmlns:a16="http://schemas.microsoft.com/office/drawing/2014/main" val="528163032"/>
                    </a:ext>
                  </a:extLst>
                </a:gridCol>
                <a:gridCol w="1551316">
                  <a:extLst>
                    <a:ext uri="{9D8B030D-6E8A-4147-A177-3AD203B41FA5}">
                      <a16:colId xmlns:a16="http://schemas.microsoft.com/office/drawing/2014/main" val="1838448990"/>
                    </a:ext>
                  </a:extLst>
                </a:gridCol>
                <a:gridCol w="1882976">
                  <a:extLst>
                    <a:ext uri="{9D8B030D-6E8A-4147-A177-3AD203B41FA5}">
                      <a16:colId xmlns:a16="http://schemas.microsoft.com/office/drawing/2014/main" val="3996735269"/>
                    </a:ext>
                  </a:extLst>
                </a:gridCol>
              </a:tblGrid>
              <a:tr h="370840">
                <a:tc>
                  <a:txBody>
                    <a:bodyPr/>
                    <a:lstStyle/>
                    <a:p>
                      <a:r>
                        <a:rPr lang="en-US" b="0" dirty="0"/>
                        <a:t>Total Tax Amount</a:t>
                      </a:r>
                    </a:p>
                  </a:txBody>
                  <a:tcPr>
                    <a:lnR w="9525" cap="flat" cmpd="sng" algn="ctr">
                      <a:solidFill>
                        <a:schemeClr val="accent1">
                          <a:lumMod val="20000"/>
                          <a:lumOff val="80000"/>
                        </a:schemeClr>
                      </a:solidFill>
                      <a:prstDash val="solid"/>
                      <a:round/>
                      <a:headEnd type="none" w="med" len="med"/>
                      <a:tailEnd type="none" w="med" len="med"/>
                    </a:lnR>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&gt;= $1,000</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&lt;= $1,500,000</a:t>
                      </a:r>
                    </a:p>
                  </a:txBody>
                  <a:tcPr>
                    <a:lnL w="9525" cap="flat" cmpd="sng" algn="ctr">
                      <a:solidFill>
                        <a:schemeClr val="accent1">
                          <a:lumMod val="20000"/>
                          <a:lumOff val="80000"/>
                        </a:schemeClr>
                      </a:solidFill>
                      <a:prstDash val="solid"/>
                      <a:round/>
                      <a:headEnd type="none" w="med" len="med"/>
                      <a:tailEnd type="none" w="med" len="med"/>
                    </a:lnL>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4235038806"/>
                  </a:ext>
                </a:extLst>
              </a:tr>
              <a:tr h="370840">
                <a:tc>
                  <a:txBody>
                    <a:bodyPr/>
                    <a:lstStyle/>
                    <a:p>
                      <a:r>
                        <a:rPr lang="en-US" b="0" dirty="0"/>
                        <a:t>Number of Bedrooms</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pPr marL="0" indent="0">
                        <a:buFont typeface="Wingdings" panose="05000000000000000000" pitchFamily="2" charset="2"/>
                        <a:buNone/>
                      </a:pPr>
                      <a:r>
                        <a:rPr lang="en-US" b="0" dirty="0"/>
                        <a:t>&gt; 0 </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&lt; 7</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67954239"/>
                  </a:ext>
                </a:extLst>
              </a:tr>
              <a:tr h="370840">
                <a:tc>
                  <a:txBody>
                    <a:bodyPr/>
                    <a:lstStyle/>
                    <a:p>
                      <a:r>
                        <a:rPr lang="en-US" b="0" dirty="0"/>
                        <a:t>Number of Bathrooms</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&gt; 0</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&lt; 6</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589777239"/>
                  </a:ext>
                </a:extLst>
              </a:tr>
              <a:tr h="370840">
                <a:tc>
                  <a:txBody>
                    <a:bodyPr/>
                    <a:lstStyle/>
                    <a:p>
                      <a:r>
                        <a:rPr lang="en-US" b="0" dirty="0"/>
                        <a:t>Finished Living Area</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&gt;= 500 </a:t>
                      </a:r>
                      <a:r>
                        <a:rPr lang="en-US" b="0" dirty="0" err="1"/>
                        <a:t>Sqft</a:t>
                      </a:r>
                      <a:r>
                        <a:rPr lang="en-US" b="0" dirty="0"/>
                        <a:t>.</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&lt;= 4,500 </a:t>
                      </a:r>
                      <a:r>
                        <a:rPr lang="en-US" b="0" dirty="0" err="1"/>
                        <a:t>Sqft</a:t>
                      </a:r>
                      <a:r>
                        <a:rPr lang="en-US" b="0" dirty="0"/>
                        <a:t>.</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235348937"/>
                  </a:ext>
                </a:extLst>
              </a:tr>
              <a:tr h="370840">
                <a:tc>
                  <a:txBody>
                    <a:bodyPr/>
                    <a:lstStyle/>
                    <a:p>
                      <a:r>
                        <a:rPr lang="en-US" b="0" dirty="0"/>
                        <a:t>Lot </a:t>
                      </a:r>
                      <a:r>
                        <a:rPr lang="en-US" b="0" dirty="0" err="1"/>
                        <a:t>Sqft</a:t>
                      </a:r>
                      <a:r>
                        <a:rPr lang="en-US" b="0" dirty="0"/>
                        <a:t>.</a:t>
                      </a:r>
                    </a:p>
                  </a:txBody>
                  <a:tcPr>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N/A</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&lt;= 30,000 </a:t>
                      </a:r>
                      <a:r>
                        <a:rPr lang="en-US" b="0" dirty="0" err="1"/>
                        <a:t>Sqft</a:t>
                      </a:r>
                      <a:r>
                        <a:rPr lang="en-US" b="0" dirty="0"/>
                        <a:t>.</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679253438"/>
                  </a:ext>
                </a:extLst>
              </a:tr>
            </a:tbl>
          </a:graphicData>
        </a:graphic>
      </p:graphicFrame>
      <p:pic>
        <p:nvPicPr>
          <p:cNvPr id="8" name="Picture 7">
            <a:extLst>
              <a:ext uri="{FF2B5EF4-FFF2-40B4-BE49-F238E27FC236}">
                <a16:creationId xmlns:a16="http://schemas.microsoft.com/office/drawing/2014/main" id="{D86CD119-B498-4E8D-BAE4-9AFE32295D19}"/>
              </a:ext>
            </a:extLst>
          </p:cNvPr>
          <p:cNvPicPr>
            <a:picLocks noChangeAspect="1"/>
          </p:cNvPicPr>
          <p:nvPr/>
        </p:nvPicPr>
        <p:blipFill rotWithShape="1">
          <a:blip r:embed="rId2"/>
          <a:srcRect l="1157"/>
          <a:stretch/>
        </p:blipFill>
        <p:spPr>
          <a:xfrm>
            <a:off x="7674324" y="264172"/>
            <a:ext cx="2791518" cy="1871735"/>
          </a:xfrm>
          <a:prstGeom prst="rect">
            <a:avLst/>
          </a:prstGeom>
        </p:spPr>
      </p:pic>
      <p:pic>
        <p:nvPicPr>
          <p:cNvPr id="10" name="Picture 9">
            <a:extLst>
              <a:ext uri="{FF2B5EF4-FFF2-40B4-BE49-F238E27FC236}">
                <a16:creationId xmlns:a16="http://schemas.microsoft.com/office/drawing/2014/main" id="{11359292-C66E-4120-B0FD-37E8479B820E}"/>
              </a:ext>
            </a:extLst>
          </p:cNvPr>
          <p:cNvPicPr>
            <a:picLocks noChangeAspect="1"/>
          </p:cNvPicPr>
          <p:nvPr/>
        </p:nvPicPr>
        <p:blipFill>
          <a:blip r:embed="rId3"/>
          <a:stretch>
            <a:fillRect/>
          </a:stretch>
        </p:blipFill>
        <p:spPr>
          <a:xfrm>
            <a:off x="6278565" y="2247604"/>
            <a:ext cx="2791518" cy="1871735"/>
          </a:xfrm>
          <a:prstGeom prst="rect">
            <a:avLst/>
          </a:prstGeom>
        </p:spPr>
      </p:pic>
      <p:pic>
        <p:nvPicPr>
          <p:cNvPr id="12" name="Picture 11">
            <a:extLst>
              <a:ext uri="{FF2B5EF4-FFF2-40B4-BE49-F238E27FC236}">
                <a16:creationId xmlns:a16="http://schemas.microsoft.com/office/drawing/2014/main" id="{CFFB7B45-26F3-47BF-94EE-4637C3773D1E}"/>
              </a:ext>
            </a:extLst>
          </p:cNvPr>
          <p:cNvPicPr>
            <a:picLocks noChangeAspect="1"/>
          </p:cNvPicPr>
          <p:nvPr/>
        </p:nvPicPr>
        <p:blipFill rotWithShape="1">
          <a:blip r:embed="rId4"/>
          <a:srcRect l="2471"/>
          <a:stretch/>
        </p:blipFill>
        <p:spPr>
          <a:xfrm>
            <a:off x="9158863" y="2247604"/>
            <a:ext cx="2791519" cy="1871735"/>
          </a:xfrm>
          <a:prstGeom prst="rect">
            <a:avLst/>
          </a:prstGeom>
        </p:spPr>
      </p:pic>
      <p:pic>
        <p:nvPicPr>
          <p:cNvPr id="13" name="Picture 12">
            <a:extLst>
              <a:ext uri="{FF2B5EF4-FFF2-40B4-BE49-F238E27FC236}">
                <a16:creationId xmlns:a16="http://schemas.microsoft.com/office/drawing/2014/main" id="{FAC32345-7FC0-461F-8439-AA8B8EA4B624}"/>
              </a:ext>
            </a:extLst>
          </p:cNvPr>
          <p:cNvPicPr>
            <a:picLocks noChangeAspect="1"/>
          </p:cNvPicPr>
          <p:nvPr/>
        </p:nvPicPr>
        <p:blipFill>
          <a:blip r:embed="rId5"/>
          <a:stretch>
            <a:fillRect/>
          </a:stretch>
        </p:blipFill>
        <p:spPr>
          <a:xfrm>
            <a:off x="6278564" y="4231036"/>
            <a:ext cx="2793634" cy="1871735"/>
          </a:xfrm>
          <a:prstGeom prst="rect">
            <a:avLst/>
          </a:prstGeom>
        </p:spPr>
      </p:pic>
      <p:pic>
        <p:nvPicPr>
          <p:cNvPr id="14" name="Picture 13">
            <a:extLst>
              <a:ext uri="{FF2B5EF4-FFF2-40B4-BE49-F238E27FC236}">
                <a16:creationId xmlns:a16="http://schemas.microsoft.com/office/drawing/2014/main" id="{44B75069-2A8B-4195-B198-C531BDA6836B}"/>
              </a:ext>
            </a:extLst>
          </p:cNvPr>
          <p:cNvPicPr>
            <a:picLocks noChangeAspect="1"/>
          </p:cNvPicPr>
          <p:nvPr/>
        </p:nvPicPr>
        <p:blipFill>
          <a:blip r:embed="rId6"/>
          <a:stretch>
            <a:fillRect/>
          </a:stretch>
        </p:blipFill>
        <p:spPr>
          <a:xfrm>
            <a:off x="9158863" y="4231036"/>
            <a:ext cx="2791520" cy="1871735"/>
          </a:xfrm>
          <a:prstGeom prst="rect">
            <a:avLst/>
          </a:prstGeom>
        </p:spPr>
      </p:pic>
    </p:spTree>
    <p:extLst>
      <p:ext uri="{BB962C8B-B14F-4D97-AF65-F5344CB8AC3E}">
        <p14:creationId xmlns:p14="http://schemas.microsoft.com/office/powerpoint/2010/main" val="1435010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Chart, histogram&#10;&#10;Description automatically generated">
            <a:extLst>
              <a:ext uri="{FF2B5EF4-FFF2-40B4-BE49-F238E27FC236}">
                <a16:creationId xmlns:a16="http://schemas.microsoft.com/office/drawing/2014/main" id="{0A3B2357-D9BA-47F9-8D8D-B0CFF1A6BE1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33021" y="1992935"/>
            <a:ext cx="2921760" cy="4009182"/>
          </a:xfrm>
        </p:spPr>
      </p:pic>
      <p:pic>
        <p:nvPicPr>
          <p:cNvPr id="11" name="Content Placeholder 10" descr="Chart, histogram&#10;&#10;Description automatically generated">
            <a:extLst>
              <a:ext uri="{FF2B5EF4-FFF2-40B4-BE49-F238E27FC236}">
                <a16:creationId xmlns:a16="http://schemas.microsoft.com/office/drawing/2014/main" id="{523E2924-88D9-45DE-9D7C-13F8F9CC2CA2}"/>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095393" y="1992936"/>
            <a:ext cx="2415640" cy="4009182"/>
          </a:xfrm>
        </p:spPr>
      </p:pic>
      <p:sp>
        <p:nvSpPr>
          <p:cNvPr id="7" name="Title 1">
            <a:extLst>
              <a:ext uri="{FF2B5EF4-FFF2-40B4-BE49-F238E27FC236}">
                <a16:creationId xmlns:a16="http://schemas.microsoft.com/office/drawing/2014/main" id="{BD679921-778A-4ED1-93BA-7CBEFCCD65E6}"/>
              </a:ext>
            </a:extLst>
          </p:cNvPr>
          <p:cNvSpPr txBox="1">
            <a:spLocks/>
          </p:cNvSpPr>
          <p:nvPr/>
        </p:nvSpPr>
        <p:spPr>
          <a:xfrm>
            <a:off x="762000" y="205740"/>
            <a:ext cx="10668000"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PMF: Lot </a:t>
            </a:r>
            <a:r>
              <a:rPr lang="en-US" dirty="0" err="1"/>
              <a:t>Sqft</a:t>
            </a:r>
            <a:r>
              <a:rPr lang="en-US" dirty="0"/>
              <a:t> by County</a:t>
            </a:r>
          </a:p>
        </p:txBody>
      </p:sp>
      <p:sp>
        <p:nvSpPr>
          <p:cNvPr id="13" name="Content Placeholder 2">
            <a:extLst>
              <a:ext uri="{FF2B5EF4-FFF2-40B4-BE49-F238E27FC236}">
                <a16:creationId xmlns:a16="http://schemas.microsoft.com/office/drawing/2014/main" id="{67318D25-DB74-427E-BB50-08F4DA5B85F3}"/>
              </a:ext>
            </a:extLst>
          </p:cNvPr>
          <p:cNvSpPr txBox="1">
            <a:spLocks/>
          </p:cNvSpPr>
          <p:nvPr/>
        </p:nvSpPr>
        <p:spPr>
          <a:xfrm>
            <a:off x="7482951" y="2493371"/>
            <a:ext cx="4239087" cy="3008310"/>
          </a:xfrm>
          <a:prstGeom prst="rect">
            <a:avLst/>
          </a:prstGeom>
        </p:spPr>
        <p:txBody>
          <a:bodyPr vert="horz" lIns="91440" tIns="45720" rIns="91440" bIns="45720" rtlCol="0" anchor="b">
            <a:normAutofit/>
          </a:bodyPr>
          <a:lstStyle>
            <a:lvl1pPr marL="0" indent="0" algn="l" defTabSz="914400" rtl="0" eaLnBrk="1" latinLnBrk="0" hangingPunct="1">
              <a:lnSpc>
                <a:spcPct val="125000"/>
              </a:lnSpc>
              <a:spcBef>
                <a:spcPts val="1000"/>
              </a:spcBef>
              <a:buFont typeface="Arial" panose="020B0604020202020204" pitchFamily="34" charset="0"/>
              <a:buNone/>
              <a:defRPr sz="2400" b="1" kern="1200">
                <a:solidFill>
                  <a:schemeClr val="tx1">
                    <a:alpha val="70000"/>
                  </a:schemeClr>
                </a:solidFill>
                <a:latin typeface="+mn-lt"/>
                <a:ea typeface="+mn-ea"/>
                <a:cs typeface="+mn-cs"/>
              </a:defRPr>
            </a:lvl1pPr>
            <a:lvl2pPr marL="457200" indent="0" algn="l" defTabSz="914400" rtl="0" eaLnBrk="1" latinLnBrk="0" hangingPunct="1">
              <a:lnSpc>
                <a:spcPct val="125000"/>
              </a:lnSpc>
              <a:spcBef>
                <a:spcPts val="500"/>
              </a:spcBef>
              <a:buFont typeface="Arial" panose="020B0604020202020204" pitchFamily="34" charset="0"/>
              <a:buNone/>
              <a:defRPr sz="2000" b="1" kern="1200">
                <a:solidFill>
                  <a:schemeClr val="tx1">
                    <a:alpha val="70000"/>
                  </a:schemeClr>
                </a:solidFill>
                <a:latin typeface="+mn-lt"/>
                <a:ea typeface="+mn-ea"/>
                <a:cs typeface="+mn-cs"/>
              </a:defRPr>
            </a:lvl2pPr>
            <a:lvl3pPr marL="914400" indent="0" algn="l" defTabSz="914400" rtl="0" eaLnBrk="1" latinLnBrk="0" hangingPunct="1">
              <a:lnSpc>
                <a:spcPct val="125000"/>
              </a:lnSpc>
              <a:spcBef>
                <a:spcPts val="500"/>
              </a:spcBef>
              <a:buFont typeface="Arial" panose="020B0604020202020204" pitchFamily="34" charset="0"/>
              <a:buNone/>
              <a:defRPr sz="1800" b="1" kern="1200">
                <a:solidFill>
                  <a:schemeClr val="tx1">
                    <a:alpha val="70000"/>
                  </a:schemeClr>
                </a:solidFill>
                <a:latin typeface="+mn-lt"/>
                <a:ea typeface="+mn-ea"/>
                <a:cs typeface="+mn-cs"/>
              </a:defRPr>
            </a:lvl3pPr>
            <a:lvl4pPr marL="1371600" indent="0" algn="l" defTabSz="914400" rtl="0" eaLnBrk="1" latinLnBrk="0" hangingPunct="1">
              <a:lnSpc>
                <a:spcPct val="125000"/>
              </a:lnSpc>
              <a:spcBef>
                <a:spcPts val="500"/>
              </a:spcBef>
              <a:buFont typeface="Arial" panose="020B0604020202020204" pitchFamily="34" charset="0"/>
              <a:buNone/>
              <a:defRPr sz="1600" b="1" kern="1200">
                <a:solidFill>
                  <a:schemeClr val="tx1">
                    <a:alpha val="70000"/>
                  </a:schemeClr>
                </a:solidFill>
                <a:latin typeface="+mn-lt"/>
                <a:ea typeface="+mn-ea"/>
                <a:cs typeface="+mn-cs"/>
              </a:defRPr>
            </a:lvl4pPr>
            <a:lvl5pPr marL="1828800" indent="0" algn="l" defTabSz="914400" rtl="0" eaLnBrk="1" latinLnBrk="0" hangingPunct="1">
              <a:lnSpc>
                <a:spcPct val="125000"/>
              </a:lnSpc>
              <a:spcBef>
                <a:spcPts val="500"/>
              </a:spcBef>
              <a:buFont typeface="Arial" panose="020B0604020202020204" pitchFamily="34" charset="0"/>
              <a:buNone/>
              <a:defRPr sz="1600" b="1" kern="1200">
                <a:solidFill>
                  <a:schemeClr val="tx1">
                    <a:alpha val="70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200" b="0" dirty="0"/>
              <a:t>Part of understanding what influences total tax amount is the location of the home and the size of the lot for the property tax portion. These visuals help explain this relationship. </a:t>
            </a:r>
          </a:p>
        </p:txBody>
      </p:sp>
    </p:spTree>
    <p:extLst>
      <p:ext uri="{BB962C8B-B14F-4D97-AF65-F5344CB8AC3E}">
        <p14:creationId xmlns:p14="http://schemas.microsoft.com/office/powerpoint/2010/main" val="59811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8" name="Freeform: Shape 17">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20" name="Freeform: Shape 19">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useBgFill="1">
        <p:nvSpPr>
          <p:cNvPr id="22" name="Rectangle 21">
            <a:extLst>
              <a:ext uri="{FF2B5EF4-FFF2-40B4-BE49-F238E27FC236}">
                <a16:creationId xmlns:a16="http://schemas.microsoft.com/office/drawing/2014/main" id="{075615F8-B807-416B-8DBB-536E4371A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F157CE7C-AD96-4C66-87F8-0FE04896D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2104481" cy="6858001"/>
          </a:xfrm>
          <a:custGeom>
            <a:avLst/>
            <a:gdLst>
              <a:gd name="connsiteX0" fmla="*/ 0 w 2104481"/>
              <a:gd name="connsiteY0" fmla="*/ 0 h 6858001"/>
              <a:gd name="connsiteX1" fmla="*/ 631371 w 2104481"/>
              <a:gd name="connsiteY1" fmla="*/ 0 h 6858001"/>
              <a:gd name="connsiteX2" fmla="*/ 631371 w 2104481"/>
              <a:gd name="connsiteY2" fmla="*/ 1 h 6858001"/>
              <a:gd name="connsiteX3" fmla="*/ 1598581 w 2104481"/>
              <a:gd name="connsiteY3" fmla="*/ 1 h 6858001"/>
              <a:gd name="connsiteX4" fmla="*/ 1619235 w 2104481"/>
              <a:gd name="connsiteY4" fmla="*/ 52985 h 6858001"/>
              <a:gd name="connsiteX5" fmla="*/ 1828671 w 2104481"/>
              <a:gd name="connsiteY5" fmla="*/ 803891 h 6858001"/>
              <a:gd name="connsiteX6" fmla="*/ 2096129 w 2104481"/>
              <a:gd name="connsiteY6" fmla="*/ 2925121 h 6858001"/>
              <a:gd name="connsiteX7" fmla="*/ 2082790 w 2104481"/>
              <a:gd name="connsiteY7" fmla="*/ 4099808 h 6858001"/>
              <a:gd name="connsiteX8" fmla="*/ 1713648 w 2104481"/>
              <a:gd name="connsiteY8" fmla="*/ 5467759 h 6858001"/>
              <a:gd name="connsiteX9" fmla="*/ 742641 w 2104481"/>
              <a:gd name="connsiteY9" fmla="*/ 6851640 h 6858001"/>
              <a:gd name="connsiteX10" fmla="*/ 736233 w 2104481"/>
              <a:gd name="connsiteY10" fmla="*/ 6858001 h 6858001"/>
              <a:gd name="connsiteX11" fmla="*/ 520179 w 2104481"/>
              <a:gd name="connsiteY11" fmla="*/ 6858001 h 6858001"/>
              <a:gd name="connsiteX12" fmla="*/ 520179 w 2104481"/>
              <a:gd name="connsiteY12" fmla="*/ 6858000 h 6858001"/>
              <a:gd name="connsiteX13" fmla="*/ 0 w 2104481"/>
              <a:gd name="connsiteY13" fmla="*/ 6858000 h 6858001"/>
              <a:gd name="connsiteX14" fmla="*/ 0 w 2104481"/>
              <a:gd name="connsiteY14"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04481" h="6858001">
                <a:moveTo>
                  <a:pt x="0" y="0"/>
                </a:moveTo>
                <a:lnTo>
                  <a:pt x="631371" y="0"/>
                </a:lnTo>
                <a:lnTo>
                  <a:pt x="631371" y="1"/>
                </a:lnTo>
                <a:lnTo>
                  <a:pt x="1598581" y="1"/>
                </a:lnTo>
                <a:lnTo>
                  <a:pt x="1619235" y="52985"/>
                </a:lnTo>
                <a:cubicBezTo>
                  <a:pt x="1719191" y="327523"/>
                  <a:pt x="1785841" y="600965"/>
                  <a:pt x="1828671" y="803891"/>
                </a:cubicBezTo>
                <a:cubicBezTo>
                  <a:pt x="1975926" y="1501514"/>
                  <a:pt x="2082236" y="2211392"/>
                  <a:pt x="2096129" y="2925121"/>
                </a:cubicBezTo>
                <a:cubicBezTo>
                  <a:pt x="2104795" y="3349260"/>
                  <a:pt x="2114079" y="3729535"/>
                  <a:pt x="2082790" y="4099808"/>
                </a:cubicBezTo>
                <a:cubicBezTo>
                  <a:pt x="2044815" y="4550167"/>
                  <a:pt x="1946656" y="4985759"/>
                  <a:pt x="1713648" y="5467759"/>
                </a:cubicBezTo>
                <a:cubicBezTo>
                  <a:pt x="1466438" y="5978960"/>
                  <a:pt x="1134085" y="6441253"/>
                  <a:pt x="742641" y="6851640"/>
                </a:cubicBezTo>
                <a:lnTo>
                  <a:pt x="736233" y="6858001"/>
                </a:lnTo>
                <a:lnTo>
                  <a:pt x="520179" y="6858001"/>
                </a:lnTo>
                <a:lnTo>
                  <a:pt x="520179" y="6858000"/>
                </a:lnTo>
                <a:lnTo>
                  <a:pt x="0" y="68580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5507C61F-55C2-482E-B916-A0C3A3A02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31194">
            <a:off x="354366" y="102924"/>
            <a:ext cx="1872343" cy="673981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sp>
        <p:nvSpPr>
          <p:cNvPr id="3" name="Content Placeholder 2">
            <a:extLst>
              <a:ext uri="{FF2B5EF4-FFF2-40B4-BE49-F238E27FC236}">
                <a16:creationId xmlns:a16="http://schemas.microsoft.com/office/drawing/2014/main" id="{62102E76-C738-43AA-8C8A-97632AB2C537}"/>
              </a:ext>
            </a:extLst>
          </p:cNvPr>
          <p:cNvSpPr>
            <a:spLocks noGrp="1"/>
          </p:cNvSpPr>
          <p:nvPr>
            <p:ph sz="half" idx="1"/>
          </p:nvPr>
        </p:nvSpPr>
        <p:spPr>
          <a:xfrm>
            <a:off x="2551573" y="2322378"/>
            <a:ext cx="3810000" cy="3922458"/>
          </a:xfrm>
        </p:spPr>
        <p:txBody>
          <a:bodyPr vert="horz" lIns="91440" tIns="45720" rIns="91440" bIns="45720" rtlCol="0">
            <a:noAutofit/>
          </a:bodyPr>
          <a:lstStyle/>
          <a:p>
            <a:pPr>
              <a:lnSpc>
                <a:spcPct val="115000"/>
              </a:lnSpc>
            </a:pPr>
            <a:r>
              <a:rPr lang="en-US" sz="1600" dirty="0"/>
              <a:t>From the top visual I can see that most of the properties fall under around $600,000 in total taxes. Only around 10% start to pay more than that with very few nearing a million. Just over 50% of the properties all fall under $300,000. </a:t>
            </a:r>
          </a:p>
          <a:p>
            <a:pPr>
              <a:lnSpc>
                <a:spcPct val="115000"/>
              </a:lnSpc>
            </a:pPr>
            <a:r>
              <a:rPr lang="en-US" sz="1600" dirty="0"/>
              <a:t>The bottom visual shows the total taxes for the three counties. This tells me that Los Angeles County has more properties with lower total taxes.</a:t>
            </a:r>
          </a:p>
          <a:p>
            <a:pPr>
              <a:lnSpc>
                <a:spcPct val="115000"/>
              </a:lnSpc>
            </a:pPr>
            <a:endParaRPr lang="en-US" sz="1600" dirty="0"/>
          </a:p>
        </p:txBody>
      </p:sp>
      <p:sp>
        <p:nvSpPr>
          <p:cNvPr id="28" name="Freeform: Shape 27">
            <a:extLst>
              <a:ext uri="{FF2B5EF4-FFF2-40B4-BE49-F238E27FC236}">
                <a16:creationId xmlns:a16="http://schemas.microsoft.com/office/drawing/2014/main" id="{10995CF4-F248-4F1E-ABCA-892C82531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60418" y="2722960"/>
            <a:ext cx="4931582" cy="4135040"/>
          </a:xfrm>
          <a:custGeom>
            <a:avLst/>
            <a:gdLst>
              <a:gd name="connsiteX0" fmla="*/ 2552210 w 4931582"/>
              <a:gd name="connsiteY0" fmla="*/ 121 h 4135040"/>
              <a:gd name="connsiteX1" fmla="*/ 4267212 w 4931582"/>
              <a:gd name="connsiteY1" fmla="*/ 466681 h 4135040"/>
              <a:gd name="connsiteX2" fmla="*/ 4871902 w 4931582"/>
              <a:gd name="connsiteY2" fmla="*/ 702362 h 4135040"/>
              <a:gd name="connsiteX3" fmla="*/ 4931582 w 4931582"/>
              <a:gd name="connsiteY3" fmla="*/ 726580 h 4135040"/>
              <a:gd name="connsiteX4" fmla="*/ 4931582 w 4931582"/>
              <a:gd name="connsiteY4" fmla="*/ 4135040 h 4135040"/>
              <a:gd name="connsiteX5" fmla="*/ 173982 w 4931582"/>
              <a:gd name="connsiteY5" fmla="*/ 4135040 h 4135040"/>
              <a:gd name="connsiteX6" fmla="*/ 155445 w 4931582"/>
              <a:gd name="connsiteY6" fmla="*/ 4095529 h 4135040"/>
              <a:gd name="connsiteX7" fmla="*/ 96519 w 4931582"/>
              <a:gd name="connsiteY7" fmla="*/ 3940386 h 4135040"/>
              <a:gd name="connsiteX8" fmla="*/ 727333 w 4931582"/>
              <a:gd name="connsiteY8" fmla="*/ 1034973 h 4135040"/>
              <a:gd name="connsiteX9" fmla="*/ 2102481 w 4931582"/>
              <a:gd name="connsiteY9" fmla="*/ 43895 h 4135040"/>
              <a:gd name="connsiteX10" fmla="*/ 2552210 w 4931582"/>
              <a:gd name="connsiteY10" fmla="*/ 121 h 413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31582" h="4135040">
                <a:moveTo>
                  <a:pt x="2552210" y="121"/>
                </a:moveTo>
                <a:cubicBezTo>
                  <a:pt x="3195748" y="6760"/>
                  <a:pt x="3804442" y="287311"/>
                  <a:pt x="4267212" y="466681"/>
                </a:cubicBezTo>
                <a:cubicBezTo>
                  <a:pt x="4468996" y="544715"/>
                  <a:pt x="4670782" y="622865"/>
                  <a:pt x="4871902" y="702362"/>
                </a:cubicBezTo>
                <a:lnTo>
                  <a:pt x="4931582" y="726580"/>
                </a:lnTo>
                <a:lnTo>
                  <a:pt x="4931582" y="4135040"/>
                </a:lnTo>
                <a:lnTo>
                  <a:pt x="173982" y="4135040"/>
                </a:lnTo>
                <a:lnTo>
                  <a:pt x="155445" y="4095529"/>
                </a:lnTo>
                <a:cubicBezTo>
                  <a:pt x="134157" y="4045291"/>
                  <a:pt x="114485" y="3993575"/>
                  <a:pt x="96519" y="3940386"/>
                </a:cubicBezTo>
                <a:cubicBezTo>
                  <a:pt x="-149797" y="3212027"/>
                  <a:pt x="80616" y="1935543"/>
                  <a:pt x="727333" y="1034973"/>
                </a:cubicBezTo>
                <a:cubicBezTo>
                  <a:pt x="1162734" y="428187"/>
                  <a:pt x="1634777" y="143879"/>
                  <a:pt x="2102481" y="43895"/>
                </a:cubicBezTo>
                <a:cubicBezTo>
                  <a:pt x="2253336" y="11643"/>
                  <a:pt x="2403701" y="-1412"/>
                  <a:pt x="2552210" y="121"/>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C96F76EF-C54F-4076-976B-F3092E6B2650}"/>
              </a:ext>
            </a:extLst>
          </p:cNvPr>
          <p:cNvSpPr txBox="1">
            <a:spLocks/>
          </p:cNvSpPr>
          <p:nvPr/>
        </p:nvSpPr>
        <p:spPr>
          <a:xfrm>
            <a:off x="2551573" y="1351360"/>
            <a:ext cx="4572000" cy="81081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dirty="0"/>
              <a:t>CDF: Total Tax Amount</a:t>
            </a:r>
          </a:p>
        </p:txBody>
      </p:sp>
      <p:pic>
        <p:nvPicPr>
          <p:cNvPr id="19" name="Content Placeholder 8" descr="A picture containing diagram&#10;&#10;Description automatically generated">
            <a:extLst>
              <a:ext uri="{FF2B5EF4-FFF2-40B4-BE49-F238E27FC236}">
                <a16:creationId xmlns:a16="http://schemas.microsoft.com/office/drawing/2014/main" id="{ADF50AF4-B340-4EAE-B217-21317BCB2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5827" y="396240"/>
            <a:ext cx="4271475" cy="2873140"/>
          </a:xfrm>
          <a:prstGeom prst="rect">
            <a:avLst/>
          </a:prstGeom>
        </p:spPr>
      </p:pic>
      <p:pic>
        <p:nvPicPr>
          <p:cNvPr id="21" name="Picture 20" descr="A picture containing diagram&#10;&#10;Description automatically generated">
            <a:extLst>
              <a:ext uri="{FF2B5EF4-FFF2-40B4-BE49-F238E27FC236}">
                <a16:creationId xmlns:a16="http://schemas.microsoft.com/office/drawing/2014/main" id="{E2DA37C5-C865-4F91-B324-BBDB3A72EE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5827" y="3410217"/>
            <a:ext cx="4271475" cy="2869724"/>
          </a:xfrm>
          <a:prstGeom prst="rect">
            <a:avLst/>
          </a:prstGeom>
        </p:spPr>
      </p:pic>
    </p:spTree>
    <p:extLst>
      <p:ext uri="{BB962C8B-B14F-4D97-AF65-F5344CB8AC3E}">
        <p14:creationId xmlns:p14="http://schemas.microsoft.com/office/powerpoint/2010/main" val="3869408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8" name="Freeform: Shape 17">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20" name="Freeform: Shape 19">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useBgFill="1">
        <p:nvSpPr>
          <p:cNvPr id="22" name="Rectangle 21">
            <a:extLst>
              <a:ext uri="{FF2B5EF4-FFF2-40B4-BE49-F238E27FC236}">
                <a16:creationId xmlns:a16="http://schemas.microsoft.com/office/drawing/2014/main" id="{075615F8-B807-416B-8DBB-536E4371A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F157CE7C-AD96-4C66-87F8-0FE04896D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2104481" cy="6858001"/>
          </a:xfrm>
          <a:custGeom>
            <a:avLst/>
            <a:gdLst>
              <a:gd name="connsiteX0" fmla="*/ 0 w 2104481"/>
              <a:gd name="connsiteY0" fmla="*/ 0 h 6858001"/>
              <a:gd name="connsiteX1" fmla="*/ 631371 w 2104481"/>
              <a:gd name="connsiteY1" fmla="*/ 0 h 6858001"/>
              <a:gd name="connsiteX2" fmla="*/ 631371 w 2104481"/>
              <a:gd name="connsiteY2" fmla="*/ 1 h 6858001"/>
              <a:gd name="connsiteX3" fmla="*/ 1598581 w 2104481"/>
              <a:gd name="connsiteY3" fmla="*/ 1 h 6858001"/>
              <a:gd name="connsiteX4" fmla="*/ 1619235 w 2104481"/>
              <a:gd name="connsiteY4" fmla="*/ 52985 h 6858001"/>
              <a:gd name="connsiteX5" fmla="*/ 1828671 w 2104481"/>
              <a:gd name="connsiteY5" fmla="*/ 803891 h 6858001"/>
              <a:gd name="connsiteX6" fmla="*/ 2096129 w 2104481"/>
              <a:gd name="connsiteY6" fmla="*/ 2925121 h 6858001"/>
              <a:gd name="connsiteX7" fmla="*/ 2082790 w 2104481"/>
              <a:gd name="connsiteY7" fmla="*/ 4099808 h 6858001"/>
              <a:gd name="connsiteX8" fmla="*/ 1713648 w 2104481"/>
              <a:gd name="connsiteY8" fmla="*/ 5467759 h 6858001"/>
              <a:gd name="connsiteX9" fmla="*/ 742641 w 2104481"/>
              <a:gd name="connsiteY9" fmla="*/ 6851640 h 6858001"/>
              <a:gd name="connsiteX10" fmla="*/ 736233 w 2104481"/>
              <a:gd name="connsiteY10" fmla="*/ 6858001 h 6858001"/>
              <a:gd name="connsiteX11" fmla="*/ 520179 w 2104481"/>
              <a:gd name="connsiteY11" fmla="*/ 6858001 h 6858001"/>
              <a:gd name="connsiteX12" fmla="*/ 520179 w 2104481"/>
              <a:gd name="connsiteY12" fmla="*/ 6858000 h 6858001"/>
              <a:gd name="connsiteX13" fmla="*/ 0 w 2104481"/>
              <a:gd name="connsiteY13" fmla="*/ 6858000 h 6858001"/>
              <a:gd name="connsiteX14" fmla="*/ 0 w 2104481"/>
              <a:gd name="connsiteY14"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04481" h="6858001">
                <a:moveTo>
                  <a:pt x="0" y="0"/>
                </a:moveTo>
                <a:lnTo>
                  <a:pt x="631371" y="0"/>
                </a:lnTo>
                <a:lnTo>
                  <a:pt x="631371" y="1"/>
                </a:lnTo>
                <a:lnTo>
                  <a:pt x="1598581" y="1"/>
                </a:lnTo>
                <a:lnTo>
                  <a:pt x="1619235" y="52985"/>
                </a:lnTo>
                <a:cubicBezTo>
                  <a:pt x="1719191" y="327523"/>
                  <a:pt x="1785841" y="600965"/>
                  <a:pt x="1828671" y="803891"/>
                </a:cubicBezTo>
                <a:cubicBezTo>
                  <a:pt x="1975926" y="1501514"/>
                  <a:pt x="2082236" y="2211392"/>
                  <a:pt x="2096129" y="2925121"/>
                </a:cubicBezTo>
                <a:cubicBezTo>
                  <a:pt x="2104795" y="3349260"/>
                  <a:pt x="2114079" y="3729535"/>
                  <a:pt x="2082790" y="4099808"/>
                </a:cubicBezTo>
                <a:cubicBezTo>
                  <a:pt x="2044815" y="4550167"/>
                  <a:pt x="1946656" y="4985759"/>
                  <a:pt x="1713648" y="5467759"/>
                </a:cubicBezTo>
                <a:cubicBezTo>
                  <a:pt x="1466438" y="5978960"/>
                  <a:pt x="1134085" y="6441253"/>
                  <a:pt x="742641" y="6851640"/>
                </a:cubicBezTo>
                <a:lnTo>
                  <a:pt x="736233" y="6858001"/>
                </a:lnTo>
                <a:lnTo>
                  <a:pt x="520179" y="6858001"/>
                </a:lnTo>
                <a:lnTo>
                  <a:pt x="520179" y="6858000"/>
                </a:lnTo>
                <a:lnTo>
                  <a:pt x="0" y="68580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5507C61F-55C2-482E-B916-A0C3A3A02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31194">
            <a:off x="354366" y="102924"/>
            <a:ext cx="1872343" cy="673981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sp>
        <p:nvSpPr>
          <p:cNvPr id="3" name="Content Placeholder 2">
            <a:extLst>
              <a:ext uri="{FF2B5EF4-FFF2-40B4-BE49-F238E27FC236}">
                <a16:creationId xmlns:a16="http://schemas.microsoft.com/office/drawing/2014/main" id="{FF6460C8-6B41-42A6-A25A-3B2F729A04B4}"/>
              </a:ext>
            </a:extLst>
          </p:cNvPr>
          <p:cNvSpPr>
            <a:spLocks noGrp="1"/>
          </p:cNvSpPr>
          <p:nvPr>
            <p:ph sz="half" idx="1"/>
          </p:nvPr>
        </p:nvSpPr>
        <p:spPr>
          <a:xfrm>
            <a:off x="2737459" y="2200275"/>
            <a:ext cx="3810000" cy="3848790"/>
          </a:xfrm>
        </p:spPr>
        <p:txBody>
          <a:bodyPr vert="horz" lIns="91440" tIns="45720" rIns="91440" bIns="45720" rtlCol="0">
            <a:noAutofit/>
          </a:bodyPr>
          <a:lstStyle/>
          <a:p>
            <a:pPr>
              <a:lnSpc>
                <a:spcPct val="115000"/>
              </a:lnSpc>
            </a:pPr>
            <a:r>
              <a:rPr lang="en-US" sz="1600" dirty="0"/>
              <a:t>The top visual plots total taxes on a linear scale and it shows that the normal distribution is not a good fit for the data.</a:t>
            </a:r>
          </a:p>
          <a:p>
            <a:pPr>
              <a:lnSpc>
                <a:spcPct val="115000"/>
              </a:lnSpc>
            </a:pPr>
            <a:r>
              <a:rPr lang="en-US" sz="1600" dirty="0"/>
              <a:t>The bottom visual plots the log scale of total tax amount and here we get a much better fit. It’s not a perfect match but it’s not terrible. The main reason being the small portion of properties that have high total tax amounts.</a:t>
            </a:r>
          </a:p>
          <a:p>
            <a:pPr>
              <a:lnSpc>
                <a:spcPct val="115000"/>
              </a:lnSpc>
            </a:pPr>
            <a:r>
              <a:rPr lang="en-US" sz="1600" dirty="0"/>
              <a:t>Overall, the data somewhat fits a lognormal distribution</a:t>
            </a:r>
          </a:p>
        </p:txBody>
      </p:sp>
      <p:sp>
        <p:nvSpPr>
          <p:cNvPr id="28" name="Freeform: Shape 27">
            <a:extLst>
              <a:ext uri="{FF2B5EF4-FFF2-40B4-BE49-F238E27FC236}">
                <a16:creationId xmlns:a16="http://schemas.microsoft.com/office/drawing/2014/main" id="{10995CF4-F248-4F1E-ABCA-892C82531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60418" y="2722960"/>
            <a:ext cx="4931582" cy="4135040"/>
          </a:xfrm>
          <a:custGeom>
            <a:avLst/>
            <a:gdLst>
              <a:gd name="connsiteX0" fmla="*/ 2552210 w 4931582"/>
              <a:gd name="connsiteY0" fmla="*/ 121 h 4135040"/>
              <a:gd name="connsiteX1" fmla="*/ 4267212 w 4931582"/>
              <a:gd name="connsiteY1" fmla="*/ 466681 h 4135040"/>
              <a:gd name="connsiteX2" fmla="*/ 4871902 w 4931582"/>
              <a:gd name="connsiteY2" fmla="*/ 702362 h 4135040"/>
              <a:gd name="connsiteX3" fmla="*/ 4931582 w 4931582"/>
              <a:gd name="connsiteY3" fmla="*/ 726580 h 4135040"/>
              <a:gd name="connsiteX4" fmla="*/ 4931582 w 4931582"/>
              <a:gd name="connsiteY4" fmla="*/ 4135040 h 4135040"/>
              <a:gd name="connsiteX5" fmla="*/ 173982 w 4931582"/>
              <a:gd name="connsiteY5" fmla="*/ 4135040 h 4135040"/>
              <a:gd name="connsiteX6" fmla="*/ 155445 w 4931582"/>
              <a:gd name="connsiteY6" fmla="*/ 4095529 h 4135040"/>
              <a:gd name="connsiteX7" fmla="*/ 96519 w 4931582"/>
              <a:gd name="connsiteY7" fmla="*/ 3940386 h 4135040"/>
              <a:gd name="connsiteX8" fmla="*/ 727333 w 4931582"/>
              <a:gd name="connsiteY8" fmla="*/ 1034973 h 4135040"/>
              <a:gd name="connsiteX9" fmla="*/ 2102481 w 4931582"/>
              <a:gd name="connsiteY9" fmla="*/ 43895 h 4135040"/>
              <a:gd name="connsiteX10" fmla="*/ 2552210 w 4931582"/>
              <a:gd name="connsiteY10" fmla="*/ 121 h 413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31582" h="4135040">
                <a:moveTo>
                  <a:pt x="2552210" y="121"/>
                </a:moveTo>
                <a:cubicBezTo>
                  <a:pt x="3195748" y="6760"/>
                  <a:pt x="3804442" y="287311"/>
                  <a:pt x="4267212" y="466681"/>
                </a:cubicBezTo>
                <a:cubicBezTo>
                  <a:pt x="4468996" y="544715"/>
                  <a:pt x="4670782" y="622865"/>
                  <a:pt x="4871902" y="702362"/>
                </a:cubicBezTo>
                <a:lnTo>
                  <a:pt x="4931582" y="726580"/>
                </a:lnTo>
                <a:lnTo>
                  <a:pt x="4931582" y="4135040"/>
                </a:lnTo>
                <a:lnTo>
                  <a:pt x="173982" y="4135040"/>
                </a:lnTo>
                <a:lnTo>
                  <a:pt x="155445" y="4095529"/>
                </a:lnTo>
                <a:cubicBezTo>
                  <a:pt x="134157" y="4045291"/>
                  <a:pt x="114485" y="3993575"/>
                  <a:pt x="96519" y="3940386"/>
                </a:cubicBezTo>
                <a:cubicBezTo>
                  <a:pt x="-149797" y="3212027"/>
                  <a:pt x="80616" y="1935543"/>
                  <a:pt x="727333" y="1034973"/>
                </a:cubicBezTo>
                <a:cubicBezTo>
                  <a:pt x="1162734" y="428187"/>
                  <a:pt x="1634777" y="143879"/>
                  <a:pt x="2102481" y="43895"/>
                </a:cubicBezTo>
                <a:cubicBezTo>
                  <a:pt x="2253336" y="11643"/>
                  <a:pt x="2403701" y="-1412"/>
                  <a:pt x="2552210" y="121"/>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1">
            <a:extLst>
              <a:ext uri="{FF2B5EF4-FFF2-40B4-BE49-F238E27FC236}">
                <a16:creationId xmlns:a16="http://schemas.microsoft.com/office/drawing/2014/main" id="{F754F8A0-3BB5-4A50-B629-0CE31CF45424}"/>
              </a:ext>
            </a:extLst>
          </p:cNvPr>
          <p:cNvSpPr txBox="1">
            <a:spLocks/>
          </p:cNvSpPr>
          <p:nvPr/>
        </p:nvSpPr>
        <p:spPr>
          <a:xfrm>
            <a:off x="2737459" y="972589"/>
            <a:ext cx="4572000" cy="152400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dirty="0"/>
              <a:t>Lognormal Distribution: </a:t>
            </a:r>
          </a:p>
          <a:p>
            <a:pPr>
              <a:spcAft>
                <a:spcPts val="600"/>
              </a:spcAft>
            </a:pPr>
            <a:r>
              <a:rPr lang="en-US" sz="3200" dirty="0"/>
              <a:t>Total Tax Amount</a:t>
            </a:r>
          </a:p>
        </p:txBody>
      </p:sp>
      <p:pic>
        <p:nvPicPr>
          <p:cNvPr id="23" name="Content Placeholder 6">
            <a:extLst>
              <a:ext uri="{FF2B5EF4-FFF2-40B4-BE49-F238E27FC236}">
                <a16:creationId xmlns:a16="http://schemas.microsoft.com/office/drawing/2014/main" id="{F2B9BB89-F454-400D-B7AB-6E70B3D3AF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844" y="585760"/>
            <a:ext cx="3954255" cy="2778118"/>
          </a:xfrm>
          <a:prstGeom prst="rect">
            <a:avLst/>
          </a:prstGeom>
        </p:spPr>
      </p:pic>
      <p:pic>
        <p:nvPicPr>
          <p:cNvPr id="25" name="Picture 24" descr="Chart&#10;&#10;Description automatically generated">
            <a:extLst>
              <a:ext uri="{FF2B5EF4-FFF2-40B4-BE49-F238E27FC236}">
                <a16:creationId xmlns:a16="http://schemas.microsoft.com/office/drawing/2014/main" id="{EF91D2DD-46B2-4555-BC86-5E18EC6E76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43" y="3558540"/>
            <a:ext cx="3954255" cy="2747700"/>
          </a:xfrm>
          <a:prstGeom prst="rect">
            <a:avLst/>
          </a:prstGeom>
        </p:spPr>
      </p:pic>
    </p:spTree>
    <p:extLst>
      <p:ext uri="{BB962C8B-B14F-4D97-AF65-F5344CB8AC3E}">
        <p14:creationId xmlns:p14="http://schemas.microsoft.com/office/powerpoint/2010/main" val="50240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7" name="Freeform: Shape 16">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9" name="Freeform: Shape 18">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useBgFill="1">
        <p:nvSpPr>
          <p:cNvPr id="21" name="Rectangle 20">
            <a:extLst>
              <a:ext uri="{FF2B5EF4-FFF2-40B4-BE49-F238E27FC236}">
                <a16:creationId xmlns:a16="http://schemas.microsoft.com/office/drawing/2014/main" id="{075615F8-B807-416B-8DBB-536E4371A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F157CE7C-AD96-4C66-87F8-0FE04896D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2104481" cy="6858001"/>
          </a:xfrm>
          <a:custGeom>
            <a:avLst/>
            <a:gdLst>
              <a:gd name="connsiteX0" fmla="*/ 0 w 2104481"/>
              <a:gd name="connsiteY0" fmla="*/ 0 h 6858001"/>
              <a:gd name="connsiteX1" fmla="*/ 631371 w 2104481"/>
              <a:gd name="connsiteY1" fmla="*/ 0 h 6858001"/>
              <a:gd name="connsiteX2" fmla="*/ 631371 w 2104481"/>
              <a:gd name="connsiteY2" fmla="*/ 1 h 6858001"/>
              <a:gd name="connsiteX3" fmla="*/ 1598581 w 2104481"/>
              <a:gd name="connsiteY3" fmla="*/ 1 h 6858001"/>
              <a:gd name="connsiteX4" fmla="*/ 1619235 w 2104481"/>
              <a:gd name="connsiteY4" fmla="*/ 52985 h 6858001"/>
              <a:gd name="connsiteX5" fmla="*/ 1828671 w 2104481"/>
              <a:gd name="connsiteY5" fmla="*/ 803891 h 6858001"/>
              <a:gd name="connsiteX6" fmla="*/ 2096129 w 2104481"/>
              <a:gd name="connsiteY6" fmla="*/ 2925121 h 6858001"/>
              <a:gd name="connsiteX7" fmla="*/ 2082790 w 2104481"/>
              <a:gd name="connsiteY7" fmla="*/ 4099808 h 6858001"/>
              <a:gd name="connsiteX8" fmla="*/ 1713648 w 2104481"/>
              <a:gd name="connsiteY8" fmla="*/ 5467759 h 6858001"/>
              <a:gd name="connsiteX9" fmla="*/ 742641 w 2104481"/>
              <a:gd name="connsiteY9" fmla="*/ 6851640 h 6858001"/>
              <a:gd name="connsiteX10" fmla="*/ 736233 w 2104481"/>
              <a:gd name="connsiteY10" fmla="*/ 6858001 h 6858001"/>
              <a:gd name="connsiteX11" fmla="*/ 520179 w 2104481"/>
              <a:gd name="connsiteY11" fmla="*/ 6858001 h 6858001"/>
              <a:gd name="connsiteX12" fmla="*/ 520179 w 2104481"/>
              <a:gd name="connsiteY12" fmla="*/ 6858000 h 6858001"/>
              <a:gd name="connsiteX13" fmla="*/ 0 w 2104481"/>
              <a:gd name="connsiteY13" fmla="*/ 6858000 h 6858001"/>
              <a:gd name="connsiteX14" fmla="*/ 0 w 2104481"/>
              <a:gd name="connsiteY14"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04481" h="6858001">
                <a:moveTo>
                  <a:pt x="0" y="0"/>
                </a:moveTo>
                <a:lnTo>
                  <a:pt x="631371" y="0"/>
                </a:lnTo>
                <a:lnTo>
                  <a:pt x="631371" y="1"/>
                </a:lnTo>
                <a:lnTo>
                  <a:pt x="1598581" y="1"/>
                </a:lnTo>
                <a:lnTo>
                  <a:pt x="1619235" y="52985"/>
                </a:lnTo>
                <a:cubicBezTo>
                  <a:pt x="1719191" y="327523"/>
                  <a:pt x="1785841" y="600965"/>
                  <a:pt x="1828671" y="803891"/>
                </a:cubicBezTo>
                <a:cubicBezTo>
                  <a:pt x="1975926" y="1501514"/>
                  <a:pt x="2082236" y="2211392"/>
                  <a:pt x="2096129" y="2925121"/>
                </a:cubicBezTo>
                <a:cubicBezTo>
                  <a:pt x="2104795" y="3349260"/>
                  <a:pt x="2114079" y="3729535"/>
                  <a:pt x="2082790" y="4099808"/>
                </a:cubicBezTo>
                <a:cubicBezTo>
                  <a:pt x="2044815" y="4550167"/>
                  <a:pt x="1946656" y="4985759"/>
                  <a:pt x="1713648" y="5467759"/>
                </a:cubicBezTo>
                <a:cubicBezTo>
                  <a:pt x="1466438" y="5978960"/>
                  <a:pt x="1134085" y="6441253"/>
                  <a:pt x="742641" y="6851640"/>
                </a:cubicBezTo>
                <a:lnTo>
                  <a:pt x="736233" y="6858001"/>
                </a:lnTo>
                <a:lnTo>
                  <a:pt x="520179" y="6858001"/>
                </a:lnTo>
                <a:lnTo>
                  <a:pt x="520179" y="6858000"/>
                </a:lnTo>
                <a:lnTo>
                  <a:pt x="0" y="68580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5507C61F-55C2-482E-B916-A0C3A3A02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31194">
            <a:off x="354366" y="102924"/>
            <a:ext cx="1872343" cy="673981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sp>
        <p:nvSpPr>
          <p:cNvPr id="3" name="Content Placeholder 2">
            <a:extLst>
              <a:ext uri="{FF2B5EF4-FFF2-40B4-BE49-F238E27FC236}">
                <a16:creationId xmlns:a16="http://schemas.microsoft.com/office/drawing/2014/main" id="{FF6460C8-6B41-42A6-A25A-3B2F729A04B4}"/>
              </a:ext>
            </a:extLst>
          </p:cNvPr>
          <p:cNvSpPr>
            <a:spLocks noGrp="1"/>
          </p:cNvSpPr>
          <p:nvPr>
            <p:ph sz="half" idx="1"/>
          </p:nvPr>
        </p:nvSpPr>
        <p:spPr>
          <a:xfrm>
            <a:off x="2590800" y="2646508"/>
            <a:ext cx="3810000" cy="3048000"/>
          </a:xfrm>
        </p:spPr>
        <p:txBody>
          <a:bodyPr vert="horz" lIns="91440" tIns="45720" rIns="91440" bIns="45720" rtlCol="0">
            <a:normAutofit/>
          </a:bodyPr>
          <a:lstStyle/>
          <a:p>
            <a:pPr>
              <a:lnSpc>
                <a:spcPct val="115000"/>
              </a:lnSpc>
            </a:pPr>
            <a:r>
              <a:rPr lang="en-US" sz="2000" dirty="0"/>
              <a:t>The top visual is a normal probability plot for taxes and shows that it is not a good fit.</a:t>
            </a:r>
          </a:p>
          <a:p>
            <a:pPr>
              <a:lnSpc>
                <a:spcPct val="115000"/>
              </a:lnSpc>
            </a:pPr>
            <a:r>
              <a:rPr lang="en-US" sz="2000" dirty="0"/>
              <a:t>The bottom visual is the lognormal probability plot. This shows the data is a somewhat good fit except for the tails. </a:t>
            </a:r>
          </a:p>
        </p:txBody>
      </p:sp>
      <p:sp>
        <p:nvSpPr>
          <p:cNvPr id="27" name="Freeform: Shape 26">
            <a:extLst>
              <a:ext uri="{FF2B5EF4-FFF2-40B4-BE49-F238E27FC236}">
                <a16:creationId xmlns:a16="http://schemas.microsoft.com/office/drawing/2014/main" id="{10995CF4-F248-4F1E-ABCA-892C82531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60418" y="2722960"/>
            <a:ext cx="4931582" cy="4135040"/>
          </a:xfrm>
          <a:custGeom>
            <a:avLst/>
            <a:gdLst>
              <a:gd name="connsiteX0" fmla="*/ 2552210 w 4931582"/>
              <a:gd name="connsiteY0" fmla="*/ 121 h 4135040"/>
              <a:gd name="connsiteX1" fmla="*/ 4267212 w 4931582"/>
              <a:gd name="connsiteY1" fmla="*/ 466681 h 4135040"/>
              <a:gd name="connsiteX2" fmla="*/ 4871902 w 4931582"/>
              <a:gd name="connsiteY2" fmla="*/ 702362 h 4135040"/>
              <a:gd name="connsiteX3" fmla="*/ 4931582 w 4931582"/>
              <a:gd name="connsiteY3" fmla="*/ 726580 h 4135040"/>
              <a:gd name="connsiteX4" fmla="*/ 4931582 w 4931582"/>
              <a:gd name="connsiteY4" fmla="*/ 4135040 h 4135040"/>
              <a:gd name="connsiteX5" fmla="*/ 173982 w 4931582"/>
              <a:gd name="connsiteY5" fmla="*/ 4135040 h 4135040"/>
              <a:gd name="connsiteX6" fmla="*/ 155445 w 4931582"/>
              <a:gd name="connsiteY6" fmla="*/ 4095529 h 4135040"/>
              <a:gd name="connsiteX7" fmla="*/ 96519 w 4931582"/>
              <a:gd name="connsiteY7" fmla="*/ 3940386 h 4135040"/>
              <a:gd name="connsiteX8" fmla="*/ 727333 w 4931582"/>
              <a:gd name="connsiteY8" fmla="*/ 1034973 h 4135040"/>
              <a:gd name="connsiteX9" fmla="*/ 2102481 w 4931582"/>
              <a:gd name="connsiteY9" fmla="*/ 43895 h 4135040"/>
              <a:gd name="connsiteX10" fmla="*/ 2552210 w 4931582"/>
              <a:gd name="connsiteY10" fmla="*/ 121 h 413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31582" h="4135040">
                <a:moveTo>
                  <a:pt x="2552210" y="121"/>
                </a:moveTo>
                <a:cubicBezTo>
                  <a:pt x="3195748" y="6760"/>
                  <a:pt x="3804442" y="287311"/>
                  <a:pt x="4267212" y="466681"/>
                </a:cubicBezTo>
                <a:cubicBezTo>
                  <a:pt x="4468996" y="544715"/>
                  <a:pt x="4670782" y="622865"/>
                  <a:pt x="4871902" y="702362"/>
                </a:cubicBezTo>
                <a:lnTo>
                  <a:pt x="4931582" y="726580"/>
                </a:lnTo>
                <a:lnTo>
                  <a:pt x="4931582" y="4135040"/>
                </a:lnTo>
                <a:lnTo>
                  <a:pt x="173982" y="4135040"/>
                </a:lnTo>
                <a:lnTo>
                  <a:pt x="155445" y="4095529"/>
                </a:lnTo>
                <a:cubicBezTo>
                  <a:pt x="134157" y="4045291"/>
                  <a:pt x="114485" y="3993575"/>
                  <a:pt x="96519" y="3940386"/>
                </a:cubicBezTo>
                <a:cubicBezTo>
                  <a:pt x="-149797" y="3212027"/>
                  <a:pt x="80616" y="1935543"/>
                  <a:pt x="727333" y="1034973"/>
                </a:cubicBezTo>
                <a:cubicBezTo>
                  <a:pt x="1162734" y="428187"/>
                  <a:pt x="1634777" y="143879"/>
                  <a:pt x="2102481" y="43895"/>
                </a:cubicBezTo>
                <a:cubicBezTo>
                  <a:pt x="2253336" y="11643"/>
                  <a:pt x="2403701" y="-1412"/>
                  <a:pt x="2552210" y="121"/>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1">
            <a:extLst>
              <a:ext uri="{FF2B5EF4-FFF2-40B4-BE49-F238E27FC236}">
                <a16:creationId xmlns:a16="http://schemas.microsoft.com/office/drawing/2014/main" id="{F754F8A0-3BB5-4A50-B629-0CE31CF45424}"/>
              </a:ext>
            </a:extLst>
          </p:cNvPr>
          <p:cNvSpPr txBox="1">
            <a:spLocks/>
          </p:cNvSpPr>
          <p:nvPr/>
        </p:nvSpPr>
        <p:spPr>
          <a:xfrm>
            <a:off x="2590800" y="1122508"/>
            <a:ext cx="4572000" cy="152400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dirty="0"/>
              <a:t>Probability Plot: </a:t>
            </a:r>
          </a:p>
          <a:p>
            <a:pPr>
              <a:spcAft>
                <a:spcPts val="600"/>
              </a:spcAft>
            </a:pPr>
            <a:r>
              <a:rPr lang="en-US" sz="3200" dirty="0"/>
              <a:t>Total Tax Amount</a:t>
            </a:r>
          </a:p>
        </p:txBody>
      </p:sp>
      <p:pic>
        <p:nvPicPr>
          <p:cNvPr id="20" name="Picture 19" descr="Chart, line chart&#10;&#10;Description automatically generated">
            <a:extLst>
              <a:ext uri="{FF2B5EF4-FFF2-40B4-BE49-F238E27FC236}">
                <a16:creationId xmlns:a16="http://schemas.microsoft.com/office/drawing/2014/main" id="{2C8C58AF-C07B-473C-A6B8-313FB7DC7B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3700" y="388127"/>
            <a:ext cx="3953424" cy="2593198"/>
          </a:xfrm>
          <a:prstGeom prst="rect">
            <a:avLst/>
          </a:prstGeom>
        </p:spPr>
      </p:pic>
      <p:pic>
        <p:nvPicPr>
          <p:cNvPr id="22" name="Picture 21" descr="Chart, line chart&#10;&#10;Description automatically generated">
            <a:extLst>
              <a:ext uri="{FF2B5EF4-FFF2-40B4-BE49-F238E27FC236}">
                <a16:creationId xmlns:a16="http://schemas.microsoft.com/office/drawing/2014/main" id="{F069D171-D8CF-4644-98A3-6579AA9BC8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3699" y="3246119"/>
            <a:ext cx="3953425" cy="2819416"/>
          </a:xfrm>
          <a:prstGeom prst="rect">
            <a:avLst/>
          </a:prstGeom>
        </p:spPr>
      </p:pic>
    </p:spTree>
    <p:extLst>
      <p:ext uri="{BB962C8B-B14F-4D97-AF65-F5344CB8AC3E}">
        <p14:creationId xmlns:p14="http://schemas.microsoft.com/office/powerpoint/2010/main" val="3207824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4C888A-4717-44DE-8895-539E44315509}"/>
              </a:ext>
            </a:extLst>
          </p:cNvPr>
          <p:cNvSpPr>
            <a:spLocks noGrp="1"/>
          </p:cNvSpPr>
          <p:nvPr>
            <p:ph idx="1"/>
          </p:nvPr>
        </p:nvSpPr>
        <p:spPr>
          <a:xfrm>
            <a:off x="762000" y="1358283"/>
            <a:ext cx="5399102" cy="3160457"/>
          </a:xfrm>
        </p:spPr>
        <p:txBody>
          <a:bodyPr>
            <a:noAutofit/>
          </a:bodyPr>
          <a:lstStyle/>
          <a:p>
            <a:r>
              <a:rPr lang="en-US" sz="1300" dirty="0"/>
              <a:t>The plot of total taxes vs living </a:t>
            </a:r>
            <a:r>
              <a:rPr lang="en-US" sz="1300" dirty="0" err="1"/>
              <a:t>sqft</a:t>
            </a:r>
            <a:r>
              <a:rPr lang="en-US" sz="1300" dirty="0"/>
              <a:t>. show a slightly strong positive linear relationship – this is reflected in the correlation values</a:t>
            </a:r>
          </a:p>
          <a:p>
            <a:r>
              <a:rPr lang="en-US" sz="1300" dirty="0"/>
              <a:t>Taxes vs number of bedrooms shows a somewhat linear relationship, but the correlation is not strong – also reflected in correlation values listed below</a:t>
            </a:r>
          </a:p>
          <a:p>
            <a:r>
              <a:rPr lang="en-US" sz="1300" dirty="0"/>
              <a:t>The data is all clustered around the lower total tax amounts because the bulk of the data is there.</a:t>
            </a:r>
          </a:p>
          <a:p>
            <a:r>
              <a:rPr lang="en-US" sz="1300" dirty="0"/>
              <a:t>The covariance is hard to interpret and compare because the living </a:t>
            </a:r>
            <a:r>
              <a:rPr lang="en-US" sz="1300" dirty="0" err="1"/>
              <a:t>sqft</a:t>
            </a:r>
            <a:r>
              <a:rPr lang="en-US" sz="1300" dirty="0"/>
              <a:t> and number of bedrooms are drastically different in size of the numbers used to calculate the covariance</a:t>
            </a:r>
          </a:p>
        </p:txBody>
      </p:sp>
      <p:sp>
        <p:nvSpPr>
          <p:cNvPr id="6" name="Title 1">
            <a:extLst>
              <a:ext uri="{FF2B5EF4-FFF2-40B4-BE49-F238E27FC236}">
                <a16:creationId xmlns:a16="http://schemas.microsoft.com/office/drawing/2014/main" id="{BEF6D897-DFB0-43A8-AD02-9AB936FB5F3B}"/>
              </a:ext>
            </a:extLst>
          </p:cNvPr>
          <p:cNvSpPr txBox="1">
            <a:spLocks/>
          </p:cNvSpPr>
          <p:nvPr/>
        </p:nvSpPr>
        <p:spPr>
          <a:xfrm>
            <a:off x="762000" y="205740"/>
            <a:ext cx="10668000"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Scatter Plots</a:t>
            </a:r>
          </a:p>
        </p:txBody>
      </p:sp>
      <p:graphicFrame>
        <p:nvGraphicFramePr>
          <p:cNvPr id="13" name="Table 7">
            <a:extLst>
              <a:ext uri="{FF2B5EF4-FFF2-40B4-BE49-F238E27FC236}">
                <a16:creationId xmlns:a16="http://schemas.microsoft.com/office/drawing/2014/main" id="{A5F23487-A2A7-45E3-A229-0520E9A7CABD}"/>
              </a:ext>
            </a:extLst>
          </p:cNvPr>
          <p:cNvGraphicFramePr>
            <a:graphicFrameLocks/>
          </p:cNvGraphicFramePr>
          <p:nvPr>
            <p:extLst>
              <p:ext uri="{D42A27DB-BD31-4B8C-83A1-F6EECF244321}">
                <p14:modId xmlns:p14="http://schemas.microsoft.com/office/powerpoint/2010/main" val="3284536735"/>
              </p:ext>
            </p:extLst>
          </p:nvPr>
        </p:nvGraphicFramePr>
        <p:xfrm>
          <a:off x="762001" y="4441950"/>
          <a:ext cx="5399102" cy="2123440"/>
        </p:xfrm>
        <a:graphic>
          <a:graphicData uri="http://schemas.openxmlformats.org/drawingml/2006/table">
            <a:tbl>
              <a:tblPr firstRow="1" bandRow="1">
                <a:tableStyleId>{D113A9D2-9D6B-4929-AA2D-F23B5EE8CBE7}</a:tableStyleId>
              </a:tblPr>
              <a:tblGrid>
                <a:gridCol w="1443745">
                  <a:extLst>
                    <a:ext uri="{9D8B030D-6E8A-4147-A177-3AD203B41FA5}">
                      <a16:colId xmlns:a16="http://schemas.microsoft.com/office/drawing/2014/main" val="528163032"/>
                    </a:ext>
                  </a:extLst>
                </a:gridCol>
                <a:gridCol w="1718184">
                  <a:extLst>
                    <a:ext uri="{9D8B030D-6E8A-4147-A177-3AD203B41FA5}">
                      <a16:colId xmlns:a16="http://schemas.microsoft.com/office/drawing/2014/main" val="3790513258"/>
                    </a:ext>
                  </a:extLst>
                </a:gridCol>
                <a:gridCol w="2237173">
                  <a:extLst>
                    <a:ext uri="{9D8B030D-6E8A-4147-A177-3AD203B41FA5}">
                      <a16:colId xmlns:a16="http://schemas.microsoft.com/office/drawing/2014/main" val="1838448990"/>
                    </a:ext>
                  </a:extLst>
                </a:gridCol>
              </a:tblGrid>
              <a:tr h="370840">
                <a:tc>
                  <a:txBody>
                    <a:bodyPr/>
                    <a:lstStyle/>
                    <a:p>
                      <a:r>
                        <a:rPr lang="en-US" b="0" dirty="0"/>
                        <a:t>Metrics</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Taxes vs Living</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Taxes vs Bedrooms</a:t>
                      </a:r>
                    </a:p>
                  </a:txBody>
                  <a:tcPr>
                    <a:lnL w="9525" cap="flat" cmpd="sng" algn="ctr">
                      <a:solidFill>
                        <a:schemeClr val="accent1">
                          <a:lumMod val="20000"/>
                          <a:lumOff val="80000"/>
                        </a:schemeClr>
                      </a:solidFill>
                      <a:prstDash val="solid"/>
                      <a:round/>
                      <a:headEnd type="none" w="med" len="med"/>
                      <a:tailEnd type="none" w="med" len="med"/>
                    </a:lnL>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4235038806"/>
                  </a:ext>
                </a:extLst>
              </a:tr>
              <a:tr h="370840">
                <a:tc>
                  <a:txBody>
                    <a:bodyPr/>
                    <a:lstStyle/>
                    <a:p>
                      <a:r>
                        <a:rPr lang="en-US" b="0" dirty="0"/>
                        <a:t>Covariance</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100661153.81</a:t>
                      </a:r>
                      <a:endParaRPr lang="en-US" b="0" dirty="0"/>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72335.77</a:t>
                      </a:r>
                      <a:endParaRPr lang="en-US" b="0" dirty="0"/>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36679542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Pearson’s </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dirty="0"/>
                        <a:t>0.55</a:t>
                      </a:r>
                      <a:endParaRPr lang="en-US" b="0" dirty="0"/>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0.32</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589777239"/>
                  </a:ext>
                </a:extLst>
              </a:tr>
              <a:tr h="370840">
                <a:tc>
                  <a:txBody>
                    <a:bodyPr/>
                    <a:lstStyle/>
                    <a:p>
                      <a:r>
                        <a:rPr lang="en-US" b="0" dirty="0"/>
                        <a:t>Spearman’s</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0.46</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0.31</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2235348937"/>
                  </a:ext>
                </a:extLst>
              </a:tr>
              <a:tr h="370840">
                <a:tc>
                  <a:txBody>
                    <a:bodyPr/>
                    <a:lstStyle/>
                    <a:p>
                      <a:r>
                        <a:rPr lang="en-US" b="0" dirty="0"/>
                        <a:t>Strength</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Somewhat strong</a:t>
                      </a:r>
                    </a:p>
                  </a:txBody>
                  <a:tcPr>
                    <a:lnL w="9525" cap="flat" cmpd="sng" algn="ctr">
                      <a:solidFill>
                        <a:schemeClr val="accent1">
                          <a:lumMod val="20000"/>
                          <a:lumOff val="80000"/>
                        </a:schemeClr>
                      </a:solidFill>
                      <a:prstDash val="solid"/>
                      <a:round/>
                      <a:headEnd type="none" w="med" len="med"/>
                      <a:tailEnd type="none" w="med" len="med"/>
                    </a:lnL>
                    <a:lnR w="9525" cap="flat" cmpd="sng" algn="ctr">
                      <a:solidFill>
                        <a:schemeClr val="accent1">
                          <a:lumMod val="20000"/>
                          <a:lumOff val="80000"/>
                        </a:schemeClr>
                      </a:solidFill>
                      <a:prstDash val="solid"/>
                      <a:round/>
                      <a:headEnd type="none" w="med" len="med"/>
                      <a:tailEnd type="none" w="med" len="med"/>
                    </a:lnR>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tc>
                  <a:txBody>
                    <a:bodyPr/>
                    <a:lstStyle/>
                    <a:p>
                      <a:r>
                        <a:rPr lang="en-US" b="0" dirty="0"/>
                        <a:t>Very slightly strong</a:t>
                      </a:r>
                    </a:p>
                  </a:txBody>
                  <a:tcPr>
                    <a:lnL w="9525" cap="flat" cmpd="sng" algn="ctr">
                      <a:solidFill>
                        <a:schemeClr val="accent1">
                          <a:lumMod val="20000"/>
                          <a:lumOff val="80000"/>
                        </a:schemeClr>
                      </a:solidFill>
                      <a:prstDash val="solid"/>
                      <a:round/>
                      <a:headEnd type="none" w="med" len="med"/>
                      <a:tailEnd type="none" w="med" len="med"/>
                    </a:lnL>
                    <a:lnT w="9525" cap="flat" cmpd="sng" algn="ctr">
                      <a:solidFill>
                        <a:schemeClr val="accent1">
                          <a:lumMod val="60000"/>
                          <a:lumOff val="40000"/>
                        </a:schemeClr>
                      </a:solidFill>
                      <a:prstDash val="solid"/>
                      <a:round/>
                      <a:headEnd type="none" w="med" len="med"/>
                      <a:tailEnd type="none" w="med" len="med"/>
                    </a:lnT>
                    <a:lnB w="952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139925886"/>
                  </a:ext>
                </a:extLst>
              </a:tr>
            </a:tbl>
          </a:graphicData>
        </a:graphic>
      </p:graphicFrame>
      <p:pic>
        <p:nvPicPr>
          <p:cNvPr id="2" name="Picture 1">
            <a:extLst>
              <a:ext uri="{FF2B5EF4-FFF2-40B4-BE49-F238E27FC236}">
                <a16:creationId xmlns:a16="http://schemas.microsoft.com/office/drawing/2014/main" id="{5DC509E5-D347-4B4E-9F60-6129CB11B65E}"/>
              </a:ext>
            </a:extLst>
          </p:cNvPr>
          <p:cNvPicPr>
            <a:picLocks noChangeAspect="1"/>
          </p:cNvPicPr>
          <p:nvPr/>
        </p:nvPicPr>
        <p:blipFill>
          <a:blip r:embed="rId2"/>
          <a:stretch>
            <a:fillRect/>
          </a:stretch>
        </p:blipFill>
        <p:spPr>
          <a:xfrm>
            <a:off x="7165481" y="205740"/>
            <a:ext cx="4264518" cy="2909048"/>
          </a:xfrm>
          <a:prstGeom prst="rect">
            <a:avLst/>
          </a:prstGeom>
        </p:spPr>
      </p:pic>
      <p:pic>
        <p:nvPicPr>
          <p:cNvPr id="5" name="Picture 4">
            <a:extLst>
              <a:ext uri="{FF2B5EF4-FFF2-40B4-BE49-F238E27FC236}">
                <a16:creationId xmlns:a16="http://schemas.microsoft.com/office/drawing/2014/main" id="{7D827807-81E7-4EE6-933D-3C5C1812B0AE}"/>
              </a:ext>
            </a:extLst>
          </p:cNvPr>
          <p:cNvPicPr>
            <a:picLocks noChangeAspect="1"/>
          </p:cNvPicPr>
          <p:nvPr/>
        </p:nvPicPr>
        <p:blipFill>
          <a:blip r:embed="rId3"/>
          <a:stretch>
            <a:fillRect/>
          </a:stretch>
        </p:blipFill>
        <p:spPr>
          <a:xfrm>
            <a:off x="7165480" y="3251537"/>
            <a:ext cx="4276161" cy="2803034"/>
          </a:xfrm>
          <a:prstGeom prst="rect">
            <a:avLst/>
          </a:prstGeom>
        </p:spPr>
      </p:pic>
    </p:spTree>
    <p:extLst>
      <p:ext uri="{BB962C8B-B14F-4D97-AF65-F5344CB8AC3E}">
        <p14:creationId xmlns:p14="http://schemas.microsoft.com/office/powerpoint/2010/main" val="3692750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4686AF-6794-4201-AC0F-EFACE62673F8}"/>
              </a:ext>
            </a:extLst>
          </p:cNvPr>
          <p:cNvSpPr>
            <a:spLocks noGrp="1"/>
          </p:cNvSpPr>
          <p:nvPr>
            <p:ph idx="1"/>
          </p:nvPr>
        </p:nvSpPr>
        <p:spPr>
          <a:xfrm>
            <a:off x="762000" y="1729740"/>
            <a:ext cx="10668000" cy="4374343"/>
          </a:xfrm>
        </p:spPr>
        <p:txBody>
          <a:bodyPr>
            <a:normAutofit fontScale="92500" lnSpcReduction="10000"/>
          </a:bodyPr>
          <a:lstStyle/>
          <a:p>
            <a:r>
              <a:rPr lang="en-US" dirty="0"/>
              <a:t>Hypothesis: Location has a significant affect on total tax amount for properties in California</a:t>
            </a:r>
          </a:p>
          <a:p>
            <a:r>
              <a:rPr lang="en-US" dirty="0"/>
              <a:t>Null Hypothesis: Location does not have an affect on total tax amount for properties in California</a:t>
            </a:r>
          </a:p>
          <a:p>
            <a:r>
              <a:rPr lang="en-US" dirty="0"/>
              <a:t>I tested the difference in means for total tax amount between the three different counties.</a:t>
            </a:r>
          </a:p>
          <a:p>
            <a:pPr lvl="1"/>
            <a:r>
              <a:rPr lang="en-US" dirty="0"/>
              <a:t>All tests resulted in a p-value of 0.0</a:t>
            </a:r>
          </a:p>
          <a:p>
            <a:pPr lvl="1"/>
            <a:r>
              <a:rPr lang="en-US" dirty="0"/>
              <a:t>This indicates that 0% of the time we expect to see a difference as big as the observed difference between counties.</a:t>
            </a:r>
          </a:p>
        </p:txBody>
      </p:sp>
      <p:sp>
        <p:nvSpPr>
          <p:cNvPr id="4" name="Title 1">
            <a:extLst>
              <a:ext uri="{FF2B5EF4-FFF2-40B4-BE49-F238E27FC236}">
                <a16:creationId xmlns:a16="http://schemas.microsoft.com/office/drawing/2014/main" id="{25087156-8012-4754-82E5-76819BEBEA10}"/>
              </a:ext>
            </a:extLst>
          </p:cNvPr>
          <p:cNvSpPr txBox="1">
            <a:spLocks/>
          </p:cNvSpPr>
          <p:nvPr/>
        </p:nvSpPr>
        <p:spPr>
          <a:xfrm>
            <a:off x="762000" y="205740"/>
            <a:ext cx="10668000"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Hypothesis Test</a:t>
            </a:r>
          </a:p>
        </p:txBody>
      </p:sp>
    </p:spTree>
    <p:extLst>
      <p:ext uri="{BB962C8B-B14F-4D97-AF65-F5344CB8AC3E}">
        <p14:creationId xmlns:p14="http://schemas.microsoft.com/office/powerpoint/2010/main" val="2876012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75615F8-B807-416B-8DBB-536E4371A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157CE7C-AD96-4C66-87F8-0FE04896D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2104481" cy="6858001"/>
          </a:xfrm>
          <a:custGeom>
            <a:avLst/>
            <a:gdLst>
              <a:gd name="connsiteX0" fmla="*/ 0 w 2104481"/>
              <a:gd name="connsiteY0" fmla="*/ 0 h 6858001"/>
              <a:gd name="connsiteX1" fmla="*/ 631371 w 2104481"/>
              <a:gd name="connsiteY1" fmla="*/ 0 h 6858001"/>
              <a:gd name="connsiteX2" fmla="*/ 631371 w 2104481"/>
              <a:gd name="connsiteY2" fmla="*/ 1 h 6858001"/>
              <a:gd name="connsiteX3" fmla="*/ 1598581 w 2104481"/>
              <a:gd name="connsiteY3" fmla="*/ 1 h 6858001"/>
              <a:gd name="connsiteX4" fmla="*/ 1619235 w 2104481"/>
              <a:gd name="connsiteY4" fmla="*/ 52985 h 6858001"/>
              <a:gd name="connsiteX5" fmla="*/ 1828671 w 2104481"/>
              <a:gd name="connsiteY5" fmla="*/ 803891 h 6858001"/>
              <a:gd name="connsiteX6" fmla="*/ 2096129 w 2104481"/>
              <a:gd name="connsiteY6" fmla="*/ 2925121 h 6858001"/>
              <a:gd name="connsiteX7" fmla="*/ 2082790 w 2104481"/>
              <a:gd name="connsiteY7" fmla="*/ 4099808 h 6858001"/>
              <a:gd name="connsiteX8" fmla="*/ 1713648 w 2104481"/>
              <a:gd name="connsiteY8" fmla="*/ 5467759 h 6858001"/>
              <a:gd name="connsiteX9" fmla="*/ 742641 w 2104481"/>
              <a:gd name="connsiteY9" fmla="*/ 6851640 h 6858001"/>
              <a:gd name="connsiteX10" fmla="*/ 736233 w 2104481"/>
              <a:gd name="connsiteY10" fmla="*/ 6858001 h 6858001"/>
              <a:gd name="connsiteX11" fmla="*/ 520179 w 2104481"/>
              <a:gd name="connsiteY11" fmla="*/ 6858001 h 6858001"/>
              <a:gd name="connsiteX12" fmla="*/ 520179 w 2104481"/>
              <a:gd name="connsiteY12" fmla="*/ 6858000 h 6858001"/>
              <a:gd name="connsiteX13" fmla="*/ 0 w 2104481"/>
              <a:gd name="connsiteY13" fmla="*/ 6858000 h 6858001"/>
              <a:gd name="connsiteX14" fmla="*/ 0 w 2104481"/>
              <a:gd name="connsiteY14"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04481" h="6858001">
                <a:moveTo>
                  <a:pt x="0" y="0"/>
                </a:moveTo>
                <a:lnTo>
                  <a:pt x="631371" y="0"/>
                </a:lnTo>
                <a:lnTo>
                  <a:pt x="631371" y="1"/>
                </a:lnTo>
                <a:lnTo>
                  <a:pt x="1598581" y="1"/>
                </a:lnTo>
                <a:lnTo>
                  <a:pt x="1619235" y="52985"/>
                </a:lnTo>
                <a:cubicBezTo>
                  <a:pt x="1719191" y="327523"/>
                  <a:pt x="1785841" y="600965"/>
                  <a:pt x="1828671" y="803891"/>
                </a:cubicBezTo>
                <a:cubicBezTo>
                  <a:pt x="1975926" y="1501514"/>
                  <a:pt x="2082236" y="2211392"/>
                  <a:pt x="2096129" y="2925121"/>
                </a:cubicBezTo>
                <a:cubicBezTo>
                  <a:pt x="2104795" y="3349260"/>
                  <a:pt x="2114079" y="3729535"/>
                  <a:pt x="2082790" y="4099808"/>
                </a:cubicBezTo>
                <a:cubicBezTo>
                  <a:pt x="2044815" y="4550167"/>
                  <a:pt x="1946656" y="4985759"/>
                  <a:pt x="1713648" y="5467759"/>
                </a:cubicBezTo>
                <a:cubicBezTo>
                  <a:pt x="1466438" y="5978960"/>
                  <a:pt x="1134085" y="6441253"/>
                  <a:pt x="742641" y="6851640"/>
                </a:cubicBezTo>
                <a:lnTo>
                  <a:pt x="736233" y="6858001"/>
                </a:lnTo>
                <a:lnTo>
                  <a:pt x="520179" y="6858001"/>
                </a:lnTo>
                <a:lnTo>
                  <a:pt x="520179" y="6858000"/>
                </a:lnTo>
                <a:lnTo>
                  <a:pt x="0" y="68580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5507C61F-55C2-482E-B916-A0C3A3A02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31194">
            <a:off x="354366" y="102924"/>
            <a:ext cx="1872343" cy="6739811"/>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sp>
        <p:nvSpPr>
          <p:cNvPr id="3" name="Content Placeholder 2">
            <a:extLst>
              <a:ext uri="{FF2B5EF4-FFF2-40B4-BE49-F238E27FC236}">
                <a16:creationId xmlns:a16="http://schemas.microsoft.com/office/drawing/2014/main" id="{C2F5017D-3772-4900-AAD6-F883F5BE05D7}"/>
              </a:ext>
            </a:extLst>
          </p:cNvPr>
          <p:cNvSpPr>
            <a:spLocks noGrp="1"/>
          </p:cNvSpPr>
          <p:nvPr>
            <p:ph idx="1"/>
          </p:nvPr>
        </p:nvSpPr>
        <p:spPr>
          <a:xfrm>
            <a:off x="2905124" y="1574456"/>
            <a:ext cx="3810000" cy="4487253"/>
          </a:xfrm>
        </p:spPr>
        <p:txBody>
          <a:bodyPr vert="horz" lIns="91440" tIns="45720" rIns="91440" bIns="45720" rtlCol="0">
            <a:noAutofit/>
          </a:bodyPr>
          <a:lstStyle/>
          <a:p>
            <a:pPr>
              <a:lnSpc>
                <a:spcPct val="115000"/>
              </a:lnSpc>
            </a:pPr>
            <a:r>
              <a:rPr lang="en-US" sz="1600" dirty="0"/>
              <a:t>Initially, I thought this linear least squares model was an okay fit of the data based on these two visuals. The line of best fit somewhat represents the linear relationship. </a:t>
            </a:r>
          </a:p>
          <a:p>
            <a:pPr>
              <a:lnSpc>
                <a:spcPct val="115000"/>
              </a:lnSpc>
            </a:pPr>
            <a:r>
              <a:rPr lang="en-US" sz="1600" dirty="0"/>
              <a:t>The residuals are flat which indicates they have the same variance across the groups and they’re random.</a:t>
            </a:r>
          </a:p>
          <a:p>
            <a:pPr>
              <a:lnSpc>
                <a:spcPct val="115000"/>
              </a:lnSpc>
            </a:pPr>
            <a:r>
              <a:rPr lang="en-US" sz="1600" dirty="0"/>
              <a:t>Based on the R squared value though, lot size only accounts for around 4.6% of the variance in total tax amount.</a:t>
            </a:r>
          </a:p>
          <a:p>
            <a:pPr lvl="1">
              <a:lnSpc>
                <a:spcPct val="115000"/>
              </a:lnSpc>
            </a:pPr>
            <a:r>
              <a:rPr lang="en-US" sz="1600" dirty="0"/>
              <a:t>R-squared = 0.0461</a:t>
            </a:r>
          </a:p>
          <a:p>
            <a:pPr lvl="1">
              <a:lnSpc>
                <a:spcPct val="115000"/>
              </a:lnSpc>
            </a:pPr>
            <a:r>
              <a:rPr lang="en-US" sz="1600" dirty="0"/>
              <a:t>Rho = 0.215</a:t>
            </a:r>
          </a:p>
          <a:p>
            <a:pPr lvl="1">
              <a:lnSpc>
                <a:spcPct val="115000"/>
              </a:lnSpc>
            </a:pPr>
            <a:r>
              <a:rPr lang="en-US" sz="1600" dirty="0"/>
              <a:t>R = 0.215</a:t>
            </a:r>
          </a:p>
        </p:txBody>
      </p:sp>
      <p:sp>
        <p:nvSpPr>
          <p:cNvPr id="19" name="Freeform: Shape 18">
            <a:extLst>
              <a:ext uri="{FF2B5EF4-FFF2-40B4-BE49-F238E27FC236}">
                <a16:creationId xmlns:a16="http://schemas.microsoft.com/office/drawing/2014/main" id="{10995CF4-F248-4F1E-ABCA-892C82531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60418" y="2722960"/>
            <a:ext cx="4931582" cy="4135040"/>
          </a:xfrm>
          <a:custGeom>
            <a:avLst/>
            <a:gdLst>
              <a:gd name="connsiteX0" fmla="*/ 2552210 w 4931582"/>
              <a:gd name="connsiteY0" fmla="*/ 121 h 4135040"/>
              <a:gd name="connsiteX1" fmla="*/ 4267212 w 4931582"/>
              <a:gd name="connsiteY1" fmla="*/ 466681 h 4135040"/>
              <a:gd name="connsiteX2" fmla="*/ 4871902 w 4931582"/>
              <a:gd name="connsiteY2" fmla="*/ 702362 h 4135040"/>
              <a:gd name="connsiteX3" fmla="*/ 4931582 w 4931582"/>
              <a:gd name="connsiteY3" fmla="*/ 726580 h 4135040"/>
              <a:gd name="connsiteX4" fmla="*/ 4931582 w 4931582"/>
              <a:gd name="connsiteY4" fmla="*/ 4135040 h 4135040"/>
              <a:gd name="connsiteX5" fmla="*/ 173982 w 4931582"/>
              <a:gd name="connsiteY5" fmla="*/ 4135040 h 4135040"/>
              <a:gd name="connsiteX6" fmla="*/ 155445 w 4931582"/>
              <a:gd name="connsiteY6" fmla="*/ 4095529 h 4135040"/>
              <a:gd name="connsiteX7" fmla="*/ 96519 w 4931582"/>
              <a:gd name="connsiteY7" fmla="*/ 3940386 h 4135040"/>
              <a:gd name="connsiteX8" fmla="*/ 727333 w 4931582"/>
              <a:gd name="connsiteY8" fmla="*/ 1034973 h 4135040"/>
              <a:gd name="connsiteX9" fmla="*/ 2102481 w 4931582"/>
              <a:gd name="connsiteY9" fmla="*/ 43895 h 4135040"/>
              <a:gd name="connsiteX10" fmla="*/ 2552210 w 4931582"/>
              <a:gd name="connsiteY10" fmla="*/ 121 h 413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31582" h="4135040">
                <a:moveTo>
                  <a:pt x="2552210" y="121"/>
                </a:moveTo>
                <a:cubicBezTo>
                  <a:pt x="3195748" y="6760"/>
                  <a:pt x="3804442" y="287311"/>
                  <a:pt x="4267212" y="466681"/>
                </a:cubicBezTo>
                <a:cubicBezTo>
                  <a:pt x="4468996" y="544715"/>
                  <a:pt x="4670782" y="622865"/>
                  <a:pt x="4871902" y="702362"/>
                </a:cubicBezTo>
                <a:lnTo>
                  <a:pt x="4931582" y="726580"/>
                </a:lnTo>
                <a:lnTo>
                  <a:pt x="4931582" y="4135040"/>
                </a:lnTo>
                <a:lnTo>
                  <a:pt x="173982" y="4135040"/>
                </a:lnTo>
                <a:lnTo>
                  <a:pt x="155445" y="4095529"/>
                </a:lnTo>
                <a:cubicBezTo>
                  <a:pt x="134157" y="4045291"/>
                  <a:pt x="114485" y="3993575"/>
                  <a:pt x="96519" y="3940386"/>
                </a:cubicBezTo>
                <a:cubicBezTo>
                  <a:pt x="-149797" y="3212027"/>
                  <a:pt x="80616" y="1935543"/>
                  <a:pt x="727333" y="1034973"/>
                </a:cubicBezTo>
                <a:cubicBezTo>
                  <a:pt x="1162734" y="428187"/>
                  <a:pt x="1634777" y="143879"/>
                  <a:pt x="2102481" y="43895"/>
                </a:cubicBezTo>
                <a:cubicBezTo>
                  <a:pt x="2253336" y="11643"/>
                  <a:pt x="2403701" y="-1412"/>
                  <a:pt x="2552210" y="121"/>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1">
            <a:extLst>
              <a:ext uri="{FF2B5EF4-FFF2-40B4-BE49-F238E27FC236}">
                <a16:creationId xmlns:a16="http://schemas.microsoft.com/office/drawing/2014/main" id="{BAD8F4EE-DAA9-42A6-9F83-4C446E7424BC}"/>
              </a:ext>
            </a:extLst>
          </p:cNvPr>
          <p:cNvSpPr txBox="1">
            <a:spLocks/>
          </p:cNvSpPr>
          <p:nvPr/>
        </p:nvSpPr>
        <p:spPr>
          <a:xfrm>
            <a:off x="2905124" y="804373"/>
            <a:ext cx="4572000" cy="77008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dirty="0"/>
              <a:t>Regression Analysis</a:t>
            </a:r>
          </a:p>
        </p:txBody>
      </p:sp>
      <p:pic>
        <p:nvPicPr>
          <p:cNvPr id="2" name="Picture 1">
            <a:extLst>
              <a:ext uri="{FF2B5EF4-FFF2-40B4-BE49-F238E27FC236}">
                <a16:creationId xmlns:a16="http://schemas.microsoft.com/office/drawing/2014/main" id="{3173A892-61D1-464D-8802-511BA91F7642}"/>
              </a:ext>
            </a:extLst>
          </p:cNvPr>
          <p:cNvPicPr>
            <a:picLocks noChangeAspect="1"/>
          </p:cNvPicPr>
          <p:nvPr/>
        </p:nvPicPr>
        <p:blipFill>
          <a:blip r:embed="rId2"/>
          <a:stretch>
            <a:fillRect/>
          </a:stretch>
        </p:blipFill>
        <p:spPr>
          <a:xfrm>
            <a:off x="7423628" y="456588"/>
            <a:ext cx="4358797" cy="2867353"/>
          </a:xfrm>
          <a:prstGeom prst="rect">
            <a:avLst/>
          </a:prstGeom>
        </p:spPr>
      </p:pic>
      <p:pic>
        <p:nvPicPr>
          <p:cNvPr id="5" name="Picture 4">
            <a:extLst>
              <a:ext uri="{FF2B5EF4-FFF2-40B4-BE49-F238E27FC236}">
                <a16:creationId xmlns:a16="http://schemas.microsoft.com/office/drawing/2014/main" id="{DECBADEA-8B3D-42EF-A785-8C0777765D4A}"/>
              </a:ext>
            </a:extLst>
          </p:cNvPr>
          <p:cNvPicPr>
            <a:picLocks noChangeAspect="1"/>
          </p:cNvPicPr>
          <p:nvPr/>
        </p:nvPicPr>
        <p:blipFill>
          <a:blip r:embed="rId3"/>
          <a:stretch>
            <a:fillRect/>
          </a:stretch>
        </p:blipFill>
        <p:spPr>
          <a:xfrm>
            <a:off x="7423628" y="3429000"/>
            <a:ext cx="4358797" cy="2956590"/>
          </a:xfrm>
          <a:prstGeom prst="rect">
            <a:avLst/>
          </a:prstGeom>
        </p:spPr>
      </p:pic>
    </p:spTree>
    <p:extLst>
      <p:ext uri="{BB962C8B-B14F-4D97-AF65-F5344CB8AC3E}">
        <p14:creationId xmlns:p14="http://schemas.microsoft.com/office/powerpoint/2010/main" val="792540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B94001-9687-41AF-9B46-AE18A6BFB5D0}"/>
              </a:ext>
            </a:extLst>
          </p:cNvPr>
          <p:cNvSpPr>
            <a:spLocks noGrp="1"/>
          </p:cNvSpPr>
          <p:nvPr>
            <p:ph idx="1"/>
          </p:nvPr>
        </p:nvSpPr>
        <p:spPr>
          <a:xfrm>
            <a:off x="762000" y="1729740"/>
            <a:ext cx="10668000" cy="4374343"/>
          </a:xfrm>
        </p:spPr>
        <p:txBody>
          <a:bodyPr/>
          <a:lstStyle/>
          <a:p>
            <a:pPr marL="0" indent="0">
              <a:buNone/>
            </a:pPr>
            <a:r>
              <a:rPr lang="en-US" dirty="0"/>
              <a:t>Based on my findings, I would say that location and lot size do not contribute significantly to total tax amount in single family homes from Los Angeles County, Orange County, and Ventura County. </a:t>
            </a:r>
          </a:p>
        </p:txBody>
      </p:sp>
      <p:sp>
        <p:nvSpPr>
          <p:cNvPr id="6" name="Title 1">
            <a:extLst>
              <a:ext uri="{FF2B5EF4-FFF2-40B4-BE49-F238E27FC236}">
                <a16:creationId xmlns:a16="http://schemas.microsoft.com/office/drawing/2014/main" id="{44CA4A34-F566-46A1-BD4E-D5B4A0C4DCBA}"/>
              </a:ext>
            </a:extLst>
          </p:cNvPr>
          <p:cNvSpPr txBox="1">
            <a:spLocks/>
          </p:cNvSpPr>
          <p:nvPr/>
        </p:nvSpPr>
        <p:spPr>
          <a:xfrm>
            <a:off x="762000" y="205740"/>
            <a:ext cx="10668000"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Outcome</a:t>
            </a:r>
          </a:p>
        </p:txBody>
      </p:sp>
    </p:spTree>
    <p:extLst>
      <p:ext uri="{BB962C8B-B14F-4D97-AF65-F5344CB8AC3E}">
        <p14:creationId xmlns:p14="http://schemas.microsoft.com/office/powerpoint/2010/main" val="3774111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5931007"/>
      </p:ext>
    </p:extLst>
  </p:cSld>
  <p:clrMapOvr>
    <a:masterClrMapping/>
  </p:clrMapOvr>
</p:sld>
</file>

<file path=ppt/theme/theme1.xml><?xml version="1.0" encoding="utf-8"?>
<a:theme xmlns:a="http://schemas.openxmlformats.org/drawingml/2006/main" name="PebbleVTI">
  <a:themeElements>
    <a:clrScheme name="Blush 3">
      <a:dk1>
        <a:sysClr val="windowText" lastClr="000000"/>
      </a:dk1>
      <a:lt1>
        <a:sysClr val="window" lastClr="FFFFFF"/>
      </a:lt1>
      <a:dk2>
        <a:srgbClr val="B15E4E"/>
      </a:dk2>
      <a:lt2>
        <a:srgbClr val="FFFFFF"/>
      </a:lt2>
      <a:accent1>
        <a:srgbClr val="C5B096"/>
      </a:accent1>
      <a:accent2>
        <a:srgbClr val="ECA855"/>
      </a:accent2>
      <a:accent3>
        <a:srgbClr val="9BBFB0"/>
      </a:accent3>
      <a:accent4>
        <a:srgbClr val="A9AEA7"/>
      </a:accent4>
      <a:accent5>
        <a:srgbClr val="6A787C"/>
      </a:accent5>
      <a:accent6>
        <a:srgbClr val="3B4345"/>
      </a:accent6>
      <a:hlink>
        <a:srgbClr val="ECA855"/>
      </a:hlink>
      <a:folHlink>
        <a:srgbClr val="6A392F"/>
      </a:folHlink>
    </a:clrScheme>
    <a:fontScheme name="Custom 4">
      <a:majorFont>
        <a:latin typeface="Sitka Subheadi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bbleVTI" id="{8B4DB91D-6BB4-4BA3-973A-733D3AF2680E}" vid="{9A19CF0D-2077-4BF4-BAA5-86934C336D59}"/>
    </a:ext>
  </a:extLst>
</a:theme>
</file>

<file path=docProps/app.xml><?xml version="1.0" encoding="utf-8"?>
<Properties xmlns="http://schemas.openxmlformats.org/officeDocument/2006/extended-properties" xmlns:vt="http://schemas.openxmlformats.org/officeDocument/2006/docPropsVTypes">
  <TotalTime>66</TotalTime>
  <Words>1068</Words>
  <Application>Microsoft Office PowerPoint</Application>
  <PresentationFormat>Widescreen</PresentationFormat>
  <Paragraphs>214</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Avenir Next LT Pro</vt:lpstr>
      <vt:lpstr>Avenir Next LT Pro Light</vt:lpstr>
      <vt:lpstr>Sitka Subheading</vt:lpstr>
      <vt:lpstr>Wingdings</vt:lpstr>
      <vt:lpstr>PebbleVTI</vt:lpstr>
      <vt:lpstr>What contributes to Higher Taxes in Single Family Homes?</vt:lpstr>
      <vt:lpstr>PowerPoint Presentation</vt:lpstr>
      <vt:lpstr>Variables for Analysis</vt:lpstr>
      <vt:lpstr>Total Tax Amount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contributes to Higher Taxes in Single Family Homes?</dc:title>
  <dc:creator>Harper, Sadie</dc:creator>
  <cp:lastModifiedBy>Harper, Sadie</cp:lastModifiedBy>
  <cp:revision>9</cp:revision>
  <dcterms:created xsi:type="dcterms:W3CDTF">2021-06-05T17:19:07Z</dcterms:created>
  <dcterms:modified xsi:type="dcterms:W3CDTF">2021-06-05T22:56:15Z</dcterms:modified>
</cp:coreProperties>
</file>